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sldIdLst>
    <p:sldId id="256" r:id="rId2"/>
    <p:sldId id="270" r:id="rId3"/>
    <p:sldId id="257" r:id="rId4"/>
    <p:sldId id="258" r:id="rId5"/>
    <p:sldId id="259" r:id="rId6"/>
    <p:sldId id="262" r:id="rId7"/>
    <p:sldId id="263" r:id="rId8"/>
    <p:sldId id="264" r:id="rId9"/>
    <p:sldId id="265" r:id="rId10"/>
    <p:sldId id="267" r:id="rId11"/>
    <p:sldId id="268" r:id="rId12"/>
    <p:sldId id="269" r:id="rId13"/>
    <p:sldId id="271" r:id="rId14"/>
    <p:sldId id="260" r:id="rId15"/>
    <p:sldId id="261" r:id="rId16"/>
    <p:sldId id="266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2" d="100"/>
          <a:sy n="62" d="100"/>
        </p:scale>
        <p:origin x="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360DB5-D910-4D8C-A7BF-09CFFC2744F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C632E63B-81D2-4230-A613-44ECA41E83C3}">
      <dgm:prSet/>
      <dgm:spPr/>
      <dgm:t>
        <a:bodyPr/>
        <a:lstStyle/>
        <a:p>
          <a:r>
            <a:rPr lang="ru-RU"/>
            <a:t>Создали универсальную программу для отрисовки дерева Пифагора</a:t>
          </a:r>
          <a:endParaRPr lang="en-US"/>
        </a:p>
      </dgm:t>
    </dgm:pt>
    <dgm:pt modelId="{91EA8554-7733-4847-B2D6-DFB70315A2AB}" type="parTrans" cxnId="{83BBB648-F124-4F14-99F8-ADA0760AB1E0}">
      <dgm:prSet/>
      <dgm:spPr/>
      <dgm:t>
        <a:bodyPr/>
        <a:lstStyle/>
        <a:p>
          <a:endParaRPr lang="en-US"/>
        </a:p>
      </dgm:t>
    </dgm:pt>
    <dgm:pt modelId="{07BB1435-5F00-4FE0-8629-CCE9FDB0D72C}" type="sibTrans" cxnId="{83BBB648-F124-4F14-99F8-ADA0760AB1E0}">
      <dgm:prSet/>
      <dgm:spPr/>
      <dgm:t>
        <a:bodyPr/>
        <a:lstStyle/>
        <a:p>
          <a:endParaRPr lang="en-US"/>
        </a:p>
      </dgm:t>
    </dgm:pt>
    <dgm:pt modelId="{92C20EA2-12C5-4CA1-8F4F-377543BFE61A}">
      <dgm:prSet/>
      <dgm:spPr/>
      <dgm:t>
        <a:bodyPr/>
        <a:lstStyle/>
        <a:p>
          <a:r>
            <a:rPr lang="ru-RU"/>
            <a:t>Закончили смысловую часть проекта</a:t>
          </a:r>
          <a:endParaRPr lang="en-US"/>
        </a:p>
      </dgm:t>
    </dgm:pt>
    <dgm:pt modelId="{DFCEF942-D925-491C-BE4A-7F72F682BBCA}" type="parTrans" cxnId="{FEDCA243-6D56-4C55-994F-AFE031C5DA2E}">
      <dgm:prSet/>
      <dgm:spPr/>
      <dgm:t>
        <a:bodyPr/>
        <a:lstStyle/>
        <a:p>
          <a:endParaRPr lang="en-US"/>
        </a:p>
      </dgm:t>
    </dgm:pt>
    <dgm:pt modelId="{AF5D407F-8D4D-4DDF-8B93-ABFE7979DCF6}" type="sibTrans" cxnId="{FEDCA243-6D56-4C55-994F-AFE031C5DA2E}">
      <dgm:prSet/>
      <dgm:spPr/>
      <dgm:t>
        <a:bodyPr/>
        <a:lstStyle/>
        <a:p>
          <a:endParaRPr lang="en-US"/>
        </a:p>
      </dgm:t>
    </dgm:pt>
    <dgm:pt modelId="{84EC3570-DB96-417C-85C8-9219320D96A1}" type="pres">
      <dgm:prSet presAssocID="{03360DB5-D910-4D8C-A7BF-09CFFC2744F4}" presName="root" presStyleCnt="0">
        <dgm:presLayoutVars>
          <dgm:dir/>
          <dgm:resizeHandles val="exact"/>
        </dgm:presLayoutVars>
      </dgm:prSet>
      <dgm:spPr/>
    </dgm:pt>
    <dgm:pt modelId="{A1D8FC6E-FC73-485C-942E-0D1B1DCE9466}" type="pres">
      <dgm:prSet presAssocID="{C632E63B-81D2-4230-A613-44ECA41E83C3}" presName="compNode" presStyleCnt="0"/>
      <dgm:spPr/>
    </dgm:pt>
    <dgm:pt modelId="{867773AA-5896-417C-9E8E-46DE0E7A2C5A}" type="pres">
      <dgm:prSet presAssocID="{C632E63B-81D2-4230-A613-44ECA41E83C3}" presName="bgRect" presStyleLbl="bgShp" presStyleIdx="0" presStyleCnt="2"/>
      <dgm:spPr/>
    </dgm:pt>
    <dgm:pt modelId="{28056EBC-F969-4986-B5D0-1A699694705A}" type="pres">
      <dgm:prSet presAssocID="{C632E63B-81D2-4230-A613-44ECA41E83C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Флажок"/>
        </a:ext>
      </dgm:extLst>
    </dgm:pt>
    <dgm:pt modelId="{1B8B1D48-7525-497A-8E8E-97E03E1FE1FB}" type="pres">
      <dgm:prSet presAssocID="{C632E63B-81D2-4230-A613-44ECA41E83C3}" presName="spaceRect" presStyleCnt="0"/>
      <dgm:spPr/>
    </dgm:pt>
    <dgm:pt modelId="{5F00A7DD-17E6-4F1F-9B83-4AC5C58C89EC}" type="pres">
      <dgm:prSet presAssocID="{C632E63B-81D2-4230-A613-44ECA41E83C3}" presName="parTx" presStyleLbl="revTx" presStyleIdx="0" presStyleCnt="2">
        <dgm:presLayoutVars>
          <dgm:chMax val="0"/>
          <dgm:chPref val="0"/>
        </dgm:presLayoutVars>
      </dgm:prSet>
      <dgm:spPr/>
    </dgm:pt>
    <dgm:pt modelId="{F200B9A2-FBE4-403B-B3DB-E416AB0A7F5F}" type="pres">
      <dgm:prSet presAssocID="{07BB1435-5F00-4FE0-8629-CCE9FDB0D72C}" presName="sibTrans" presStyleCnt="0"/>
      <dgm:spPr/>
    </dgm:pt>
    <dgm:pt modelId="{27DF0EED-1AF7-460A-9BE1-20F597200BBB}" type="pres">
      <dgm:prSet presAssocID="{92C20EA2-12C5-4CA1-8F4F-377543BFE61A}" presName="compNode" presStyleCnt="0"/>
      <dgm:spPr/>
    </dgm:pt>
    <dgm:pt modelId="{68D627FF-A4B2-4D33-9245-393E0D6EDF68}" type="pres">
      <dgm:prSet presAssocID="{92C20EA2-12C5-4CA1-8F4F-377543BFE61A}" presName="bgRect" presStyleLbl="bgShp" presStyleIdx="1" presStyleCnt="2"/>
      <dgm:spPr/>
    </dgm:pt>
    <dgm:pt modelId="{49E10F67-CB83-4993-99BC-728883DED84F}" type="pres">
      <dgm:prSet presAssocID="{92C20EA2-12C5-4CA1-8F4F-377543BFE61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AFA390F0-F510-4C1A-8C1B-FA4405034FD3}" type="pres">
      <dgm:prSet presAssocID="{92C20EA2-12C5-4CA1-8F4F-377543BFE61A}" presName="spaceRect" presStyleCnt="0"/>
      <dgm:spPr/>
    </dgm:pt>
    <dgm:pt modelId="{7BE5F2AA-BA5B-4B66-BAF3-46DE6B8F6BE6}" type="pres">
      <dgm:prSet presAssocID="{92C20EA2-12C5-4CA1-8F4F-377543BFE61A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33CD4E22-E4AA-4548-8D9E-FDC1EF91E8C9}" type="presOf" srcId="{92C20EA2-12C5-4CA1-8F4F-377543BFE61A}" destId="{7BE5F2AA-BA5B-4B66-BAF3-46DE6B8F6BE6}" srcOrd="0" destOrd="0" presId="urn:microsoft.com/office/officeart/2018/2/layout/IconVerticalSolidList"/>
    <dgm:cxn modelId="{4D188862-EF84-4C43-B3A3-749642A2710F}" type="presOf" srcId="{03360DB5-D910-4D8C-A7BF-09CFFC2744F4}" destId="{84EC3570-DB96-417C-85C8-9219320D96A1}" srcOrd="0" destOrd="0" presId="urn:microsoft.com/office/officeart/2018/2/layout/IconVerticalSolidList"/>
    <dgm:cxn modelId="{FEDCA243-6D56-4C55-994F-AFE031C5DA2E}" srcId="{03360DB5-D910-4D8C-A7BF-09CFFC2744F4}" destId="{92C20EA2-12C5-4CA1-8F4F-377543BFE61A}" srcOrd="1" destOrd="0" parTransId="{DFCEF942-D925-491C-BE4A-7F72F682BBCA}" sibTransId="{AF5D407F-8D4D-4DDF-8B93-ABFE7979DCF6}"/>
    <dgm:cxn modelId="{83BBB648-F124-4F14-99F8-ADA0760AB1E0}" srcId="{03360DB5-D910-4D8C-A7BF-09CFFC2744F4}" destId="{C632E63B-81D2-4230-A613-44ECA41E83C3}" srcOrd="0" destOrd="0" parTransId="{91EA8554-7733-4847-B2D6-DFB70315A2AB}" sibTransId="{07BB1435-5F00-4FE0-8629-CCE9FDB0D72C}"/>
    <dgm:cxn modelId="{9320F89C-9872-4AC0-B7AC-7951A7B3E1F2}" type="presOf" srcId="{C632E63B-81D2-4230-A613-44ECA41E83C3}" destId="{5F00A7DD-17E6-4F1F-9B83-4AC5C58C89EC}" srcOrd="0" destOrd="0" presId="urn:microsoft.com/office/officeart/2018/2/layout/IconVerticalSolidList"/>
    <dgm:cxn modelId="{256884D7-1E0A-4066-8FAB-EAB07B795CBF}" type="presParOf" srcId="{84EC3570-DB96-417C-85C8-9219320D96A1}" destId="{A1D8FC6E-FC73-485C-942E-0D1B1DCE9466}" srcOrd="0" destOrd="0" presId="urn:microsoft.com/office/officeart/2018/2/layout/IconVerticalSolidList"/>
    <dgm:cxn modelId="{859C22B4-40B2-4367-9480-6D2EA71375B0}" type="presParOf" srcId="{A1D8FC6E-FC73-485C-942E-0D1B1DCE9466}" destId="{867773AA-5896-417C-9E8E-46DE0E7A2C5A}" srcOrd="0" destOrd="0" presId="urn:microsoft.com/office/officeart/2018/2/layout/IconVerticalSolidList"/>
    <dgm:cxn modelId="{7CCE2138-E47E-4ADF-9E53-892D589485D5}" type="presParOf" srcId="{A1D8FC6E-FC73-485C-942E-0D1B1DCE9466}" destId="{28056EBC-F969-4986-B5D0-1A699694705A}" srcOrd="1" destOrd="0" presId="urn:microsoft.com/office/officeart/2018/2/layout/IconVerticalSolidList"/>
    <dgm:cxn modelId="{90CDD34F-22D0-4194-B5D5-7FF74682CDC8}" type="presParOf" srcId="{A1D8FC6E-FC73-485C-942E-0D1B1DCE9466}" destId="{1B8B1D48-7525-497A-8E8E-97E03E1FE1FB}" srcOrd="2" destOrd="0" presId="urn:microsoft.com/office/officeart/2018/2/layout/IconVerticalSolidList"/>
    <dgm:cxn modelId="{5E23B62B-F552-4193-A93C-A4C715A4189D}" type="presParOf" srcId="{A1D8FC6E-FC73-485C-942E-0D1B1DCE9466}" destId="{5F00A7DD-17E6-4F1F-9B83-4AC5C58C89EC}" srcOrd="3" destOrd="0" presId="urn:microsoft.com/office/officeart/2018/2/layout/IconVerticalSolidList"/>
    <dgm:cxn modelId="{9AF3E068-2F37-4B9F-BD61-35DFA6CB3B7E}" type="presParOf" srcId="{84EC3570-DB96-417C-85C8-9219320D96A1}" destId="{F200B9A2-FBE4-403B-B3DB-E416AB0A7F5F}" srcOrd="1" destOrd="0" presId="urn:microsoft.com/office/officeart/2018/2/layout/IconVerticalSolidList"/>
    <dgm:cxn modelId="{EA45EF9B-8CFE-47C6-A54C-F9394DFB1D7D}" type="presParOf" srcId="{84EC3570-DB96-417C-85C8-9219320D96A1}" destId="{27DF0EED-1AF7-460A-9BE1-20F597200BBB}" srcOrd="2" destOrd="0" presId="urn:microsoft.com/office/officeart/2018/2/layout/IconVerticalSolidList"/>
    <dgm:cxn modelId="{1E738496-0EB7-44D1-994D-9C033512BD83}" type="presParOf" srcId="{27DF0EED-1AF7-460A-9BE1-20F597200BBB}" destId="{68D627FF-A4B2-4D33-9245-393E0D6EDF68}" srcOrd="0" destOrd="0" presId="urn:microsoft.com/office/officeart/2018/2/layout/IconVerticalSolidList"/>
    <dgm:cxn modelId="{8D1AF89C-1108-4A66-A07C-B4CAA319388B}" type="presParOf" srcId="{27DF0EED-1AF7-460A-9BE1-20F597200BBB}" destId="{49E10F67-CB83-4993-99BC-728883DED84F}" srcOrd="1" destOrd="0" presId="urn:microsoft.com/office/officeart/2018/2/layout/IconVerticalSolidList"/>
    <dgm:cxn modelId="{D2E0CDED-8F09-4839-9EA0-A0A7BAFDA40A}" type="presParOf" srcId="{27DF0EED-1AF7-460A-9BE1-20F597200BBB}" destId="{AFA390F0-F510-4C1A-8C1B-FA4405034FD3}" srcOrd="2" destOrd="0" presId="urn:microsoft.com/office/officeart/2018/2/layout/IconVerticalSolidList"/>
    <dgm:cxn modelId="{C7A649DC-2D67-43B6-B919-83C5A4837F2B}" type="presParOf" srcId="{27DF0EED-1AF7-460A-9BE1-20F597200BBB}" destId="{7BE5F2AA-BA5B-4B66-BAF3-46DE6B8F6BE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67773AA-5896-417C-9E8E-46DE0E7A2C5A}">
      <dsp:nvSpPr>
        <dsp:cNvPr id="0" name=""/>
        <dsp:cNvSpPr/>
      </dsp:nvSpPr>
      <dsp:spPr>
        <a:xfrm>
          <a:off x="0" y="905298"/>
          <a:ext cx="5816750" cy="16713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056EBC-F969-4986-B5D0-1A699694705A}">
      <dsp:nvSpPr>
        <dsp:cNvPr id="0" name=""/>
        <dsp:cNvSpPr/>
      </dsp:nvSpPr>
      <dsp:spPr>
        <a:xfrm>
          <a:off x="505574" y="1281345"/>
          <a:ext cx="919225" cy="9192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00A7DD-17E6-4F1F-9B83-4AC5C58C89EC}">
      <dsp:nvSpPr>
        <dsp:cNvPr id="0" name=""/>
        <dsp:cNvSpPr/>
      </dsp:nvSpPr>
      <dsp:spPr>
        <a:xfrm>
          <a:off x="1930374" y="905298"/>
          <a:ext cx="3886375" cy="1671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881" tIns="176881" rIns="176881" bIns="1768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Создали универсальную программу для отрисовки дерева Пифагора</a:t>
          </a:r>
          <a:endParaRPr lang="en-US" sz="2500" kern="1200"/>
        </a:p>
      </dsp:txBody>
      <dsp:txXfrm>
        <a:off x="1930374" y="905298"/>
        <a:ext cx="3886375" cy="1671319"/>
      </dsp:txXfrm>
    </dsp:sp>
    <dsp:sp modelId="{68D627FF-A4B2-4D33-9245-393E0D6EDF68}">
      <dsp:nvSpPr>
        <dsp:cNvPr id="0" name=""/>
        <dsp:cNvSpPr/>
      </dsp:nvSpPr>
      <dsp:spPr>
        <a:xfrm>
          <a:off x="0" y="2994447"/>
          <a:ext cx="5816750" cy="167131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E10F67-CB83-4993-99BC-728883DED84F}">
      <dsp:nvSpPr>
        <dsp:cNvPr id="0" name=""/>
        <dsp:cNvSpPr/>
      </dsp:nvSpPr>
      <dsp:spPr>
        <a:xfrm>
          <a:off x="505574" y="3370494"/>
          <a:ext cx="919225" cy="9192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E5F2AA-BA5B-4B66-BAF3-46DE6B8F6BE6}">
      <dsp:nvSpPr>
        <dsp:cNvPr id="0" name=""/>
        <dsp:cNvSpPr/>
      </dsp:nvSpPr>
      <dsp:spPr>
        <a:xfrm>
          <a:off x="1930374" y="2994447"/>
          <a:ext cx="3886375" cy="16713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6881" tIns="176881" rIns="176881" bIns="1768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500" kern="1200"/>
            <a:t>Закончили смысловую часть проекта</a:t>
          </a:r>
          <a:endParaRPr lang="en-US" sz="2500" kern="1200"/>
        </a:p>
      </dsp:txBody>
      <dsp:txXfrm>
        <a:off x="1930374" y="2994447"/>
        <a:ext cx="3886375" cy="16713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</a:extLst>
          </p:cNvPr>
          <p:cNvSpPr/>
          <p:nvPr/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EC2572-8518-46FF-8F60-FE2963DF4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640080"/>
            <a:ext cx="10268712" cy="3227832"/>
          </a:xfrm>
        </p:spPr>
        <p:txBody>
          <a:bodyPr anchor="b">
            <a:normAutofit/>
          </a:bodyPr>
          <a:lstStyle>
            <a:lvl1pPr algn="ctr">
              <a:defRPr sz="88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A0C76A-7715-48A4-8CF5-14BBF61962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" y="4526280"/>
            <a:ext cx="10268712" cy="1508760"/>
          </a:xfrm>
        </p:spPr>
        <p:txBody>
          <a:bodyPr>
            <a:normAutofit/>
          </a:bodyPr>
          <a:lstStyle>
            <a:lvl1pPr marL="0" indent="0" algn="ctr">
              <a:buNone/>
              <a:defRPr sz="360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2D4EF84-F7DF-49C5-9285-301284ADB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81266E04-79AF-49EF-86BC-DB29D304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90DF5B53-9A9A-46CE-A910-25ADA5875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4093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597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CE3B1B5E-0912-44AE-BAED-70B980E53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46C82F1-A7B2-4F03-A26B-59D79BF5B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1DC1ABC-47A9-477B-A29D-F6690EE6B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08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5F398-F05F-4793-9FA5-5B817EB95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7F1CD-2CD4-4BBB-AB36-73A20B1A8D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60120" y="2587752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7BBE02-B884-4CCC-9CBD-13B792BBA2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12992" y="2583371"/>
            <a:ext cx="4815840" cy="359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B7FBE509-AA68-4D63-A589-AD5DE7FF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9C1A4D52-57E4-4F45-BC2C-9FD73E9CE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E76AD5E1-358D-4236-85AE-74713259EF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151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10697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0604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343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3A0FE-F7E3-433E-9A29-D778690D2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591850"/>
            <a:ext cx="6045644" cy="3593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4B15D-55F5-4208-AF40-41CAFEB56F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60120" y="2591850"/>
            <a:ext cx="3811905" cy="3277137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8A46CE7-2F0F-4C85-B633-B9FCB8347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0900919-3A73-4918-9D97-8DBE7ABB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8BC1001-E44E-4A9A-9E60-2E319A844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A125AC31-022C-40AA-B65C-C9AC48395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50457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797A575-703F-410E-9A84-F9B578FEAE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2267712"/>
            <a:ext cx="6571469" cy="4590288"/>
          </a:xfrm>
          <a:solidFill>
            <a:schemeClr val="bg1">
              <a:lumMod val="85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18B509-934D-400A-A922-45B61AC6ED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235971" y="2587752"/>
            <a:ext cx="3992856" cy="3593592"/>
          </a:xfrm>
        </p:spPr>
        <p:txBody>
          <a:bodyPr anchor="ctr"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813C51-6954-4F3A-A043-D1BCC8B50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AC32FB-49A3-40E4-9D24-177597043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 dirty="0">
              <a:effectLst>
                <a:outerShdw blurRad="50800" dist="38100" dir="2700000" algn="tl" rotWithShape="0">
                  <a:prstClr val="black">
                    <a:alpha val="43000"/>
                  </a:prstClr>
                </a:outerShdw>
              </a:effectLst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C93F5E6-DAE6-447B-8038-5F4C9A799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F97FB-514D-4FE8-A9A4-E9A111A56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5307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327B9-64C6-4AFE-8E67-F60CD17A80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92656D-F600-4D76-8A0F-BDBE78759B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A13412-4939-4879-B91F-BB5B029B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237DB9-DE7D-4687-82D7-612600F06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819356-0444-4C23-82D3-E2FDE28D3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880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EB51B7C-D548-4AB7-90A4-C196105E6D56}"/>
              </a:ext>
            </a:extLst>
          </p:cNvPr>
          <p:cNvSpPr/>
          <p:nvPr/>
        </p:nvSpPr>
        <p:spPr>
          <a:xfrm>
            <a:off x="7108274" y="0"/>
            <a:ext cx="508372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DC521B-8B54-4843-9FF4-B2C30FA004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751740" y="643467"/>
            <a:ext cx="3477092" cy="5533495"/>
          </a:xfrm>
        </p:spPr>
        <p:txBody>
          <a:bodyPr vert="eaVert" tIns="9144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0E3F10-9E27-41E6-A965-4243E37BE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960120" y="643467"/>
            <a:ext cx="5504687" cy="5533496"/>
          </a:xfrm>
        </p:spPr>
        <p:txBody>
          <a:bodyPr vert="eaVert" tIns="91440" bIns="9144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341D62D-51A0-4AD7-8027-BF548FB6AAF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7898" y="6356350"/>
            <a:ext cx="25227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857492-A701-44A1-B1D5-7B2C8CD06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D2E8AE-F1AA-4D19-A434-102501D3B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98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3/13/2021</a:t>
            </a:fld>
            <a:endParaRPr lang="en-US" spc="5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3012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32" r:id="rId2"/>
    <p:sldLayoutId id="2147483733" r:id="rId3"/>
    <p:sldLayoutId id="2147483734" r:id="rId4"/>
    <p:sldLayoutId id="2147483735" r:id="rId5"/>
    <p:sldLayoutId id="2147483729" r:id="rId6"/>
    <p:sldLayoutId id="2147483725" r:id="rId7"/>
    <p:sldLayoutId id="2147483726" r:id="rId8"/>
    <p:sldLayoutId id="2147483727" r:id="rId9"/>
    <p:sldLayoutId id="2147483728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6184AEC3-69A9-413E-AC13-69AAA3C92B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5600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Неравновесная агрегация, фракталы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4539374-23BE-4138-AF2B-BDF4F21076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9946" y="2764698"/>
            <a:ext cx="6786595" cy="359359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 algn="l">
              <a:lnSpc>
                <a:spcPct val="91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>
                <a:solidFill>
                  <a:schemeClr val="tx1"/>
                </a:solidFill>
              </a:rPr>
              <a:t>Виноградова Варвара НФИбд-01-18</a:t>
            </a:r>
          </a:p>
          <a:p>
            <a:pPr indent="-228600" algn="l">
              <a:lnSpc>
                <a:spcPct val="91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chemeClr val="tx1"/>
                </a:solidFill>
              </a:rPr>
              <a:t>Жижченко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Глеб</a:t>
            </a:r>
            <a:r>
              <a:rPr lang="en-US" sz="2300" dirty="0">
                <a:solidFill>
                  <a:schemeClr val="tx1"/>
                </a:solidFill>
              </a:rPr>
              <a:t> НФИбд-01-18</a:t>
            </a:r>
          </a:p>
          <a:p>
            <a:pPr indent="-228600" algn="l">
              <a:lnSpc>
                <a:spcPct val="91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chemeClr val="tx1"/>
                </a:solidFill>
              </a:rPr>
              <a:t>Жижченко</a:t>
            </a:r>
            <a:r>
              <a:rPr lang="en-US" sz="2300" dirty="0">
                <a:solidFill>
                  <a:schemeClr val="tx1"/>
                </a:solidFill>
              </a:rPr>
              <a:t> (</a:t>
            </a:r>
            <a:r>
              <a:rPr lang="en-US" sz="2300" dirty="0" err="1">
                <a:solidFill>
                  <a:schemeClr val="tx1"/>
                </a:solidFill>
              </a:rPr>
              <a:t>Ветошкина</a:t>
            </a:r>
            <a:r>
              <a:rPr lang="en-US" sz="2300" dirty="0">
                <a:solidFill>
                  <a:schemeClr val="tx1"/>
                </a:solidFill>
              </a:rPr>
              <a:t>) </a:t>
            </a:r>
            <a:r>
              <a:rPr lang="en-US" sz="2300" dirty="0" err="1">
                <a:solidFill>
                  <a:schemeClr val="tx1"/>
                </a:solidFill>
              </a:rPr>
              <a:t>Валерия</a:t>
            </a:r>
            <a:r>
              <a:rPr lang="en-US" sz="2300" dirty="0">
                <a:solidFill>
                  <a:schemeClr val="tx1"/>
                </a:solidFill>
              </a:rPr>
              <a:t> НФИбд-03-18</a:t>
            </a:r>
          </a:p>
          <a:p>
            <a:pPr indent="-228600" algn="l">
              <a:lnSpc>
                <a:spcPct val="91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chemeClr val="tx1"/>
                </a:solidFill>
              </a:rPr>
              <a:t>Греков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Максим</a:t>
            </a:r>
            <a:r>
              <a:rPr lang="en-US" sz="2300" dirty="0">
                <a:solidFill>
                  <a:schemeClr val="tx1"/>
                </a:solidFill>
              </a:rPr>
              <a:t> НФИбд-01-18</a:t>
            </a:r>
          </a:p>
          <a:p>
            <a:pPr indent="-228600" algn="l">
              <a:lnSpc>
                <a:spcPct val="91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chemeClr val="tx1"/>
                </a:solidFill>
              </a:rPr>
              <a:t>Кондратьева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Анастасия</a:t>
            </a:r>
            <a:r>
              <a:rPr lang="en-US" sz="2300" dirty="0">
                <a:solidFill>
                  <a:schemeClr val="tx1"/>
                </a:solidFill>
              </a:rPr>
              <a:t> НФИбд-01-18</a:t>
            </a:r>
          </a:p>
          <a:p>
            <a:pPr indent="-228600" algn="l">
              <a:lnSpc>
                <a:spcPct val="91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300" dirty="0" err="1">
                <a:solidFill>
                  <a:schemeClr val="tx1"/>
                </a:solidFill>
              </a:rPr>
              <a:t>Иванова</a:t>
            </a:r>
            <a:r>
              <a:rPr lang="en-US" sz="2300" dirty="0">
                <a:solidFill>
                  <a:schemeClr val="tx1"/>
                </a:solidFill>
              </a:rPr>
              <a:t> </a:t>
            </a:r>
            <a:r>
              <a:rPr lang="en-US" sz="2300" dirty="0" err="1">
                <a:solidFill>
                  <a:schemeClr val="tx1"/>
                </a:solidFill>
              </a:rPr>
              <a:t>Ольга</a:t>
            </a:r>
            <a:r>
              <a:rPr lang="en-US" sz="2300" dirty="0">
                <a:solidFill>
                  <a:schemeClr val="tx1"/>
                </a:solidFill>
              </a:rPr>
              <a:t> НФИбд-01-18</a:t>
            </a:r>
          </a:p>
          <a:p>
            <a:pPr algn="l">
              <a:lnSpc>
                <a:spcPct val="91000"/>
              </a:lnSpc>
            </a:pPr>
            <a:endParaRPr lang="en-US" sz="2300" dirty="0">
              <a:solidFill>
                <a:schemeClr val="tx1"/>
              </a:solidFill>
            </a:endParaRPr>
          </a:p>
        </p:txBody>
      </p:sp>
      <p:pic>
        <p:nvPicPr>
          <p:cNvPr id="7" name="Picture 3" descr="Тропический зеленый листья Векторный фон">
            <a:extLst>
              <a:ext uri="{FF2B5EF4-FFF2-40B4-BE49-F238E27FC236}">
                <a16:creationId xmlns:a16="http://schemas.microsoft.com/office/drawing/2014/main" id="{EBD799E6-29D6-44C3-A758-A62178719F2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04" r="2" b="615"/>
          <a:stretch/>
        </p:blipFill>
        <p:spPr>
          <a:xfrm>
            <a:off x="7537704" y="2264989"/>
            <a:ext cx="4654296" cy="4593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170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39989-8216-4CA4-83C8-9E49167A24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ru-RU" dirty="0"/>
              <a:t>Подключение библиотек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66AEC8-D1CE-484A-B128-12D60201F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258102"/>
          </a:xfrm>
        </p:spPr>
        <p:txBody>
          <a:bodyPr anchor="ctr">
            <a:normAutofit/>
          </a:bodyPr>
          <a:lstStyle/>
          <a:p>
            <a:r>
              <a:rPr lang="en-US" dirty="0"/>
              <a:t>from </a:t>
            </a:r>
            <a:r>
              <a:rPr lang="en-US" dirty="0" err="1"/>
              <a:t>tkinter</a:t>
            </a:r>
            <a:r>
              <a:rPr lang="en-US" dirty="0"/>
              <a:t> import *</a:t>
            </a:r>
          </a:p>
          <a:p>
            <a:r>
              <a:rPr lang="en-US" dirty="0"/>
              <a:t>from </a:t>
            </a:r>
            <a:r>
              <a:rPr lang="en-US" dirty="0" err="1"/>
              <a:t>numpy</a:t>
            </a:r>
            <a:r>
              <a:rPr lang="en-US" dirty="0"/>
              <a:t> import pi, cos, sin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80849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720204-9608-4AC2-81EF-D13FDD572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ru-RU" sz="3600"/>
              <a:t>Функция </a:t>
            </a:r>
            <a:r>
              <a:rPr lang="en-US" sz="3600"/>
              <a:t>tree </a:t>
            </a:r>
            <a:r>
              <a:rPr lang="ru-RU" sz="3600"/>
              <a:t>и ее входные данные </a:t>
            </a:r>
            <a:br>
              <a:rPr lang="ru-RU" sz="3600"/>
            </a:br>
            <a:r>
              <a:rPr lang="en-US" sz="3600"/>
              <a:t>tree(c, n, x0, y0, length, </a:t>
            </a:r>
            <a:r>
              <a:rPr lang="en-US" sz="3600" err="1"/>
              <a:t>base_angle</a:t>
            </a:r>
            <a:r>
              <a:rPr lang="en-US" sz="3600"/>
              <a:t>, angle)</a:t>
            </a:r>
            <a:endParaRPr lang="ru-RU" sz="3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BB495EA-B05F-47F0-8A36-A3D69AF5AB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625"/>
            <a:ext cx="6214533" cy="3317875"/>
          </a:xfrm>
        </p:spPr>
        <p:txBody>
          <a:bodyPr anchor="ctr">
            <a:normAutofit/>
          </a:bodyPr>
          <a:lstStyle/>
          <a:p>
            <a:pPr>
              <a:lnSpc>
                <a:spcPct val="91000"/>
              </a:lnSpc>
            </a:pPr>
            <a:r>
              <a:rPr lang="en-US" sz="1600"/>
              <a:t>C</a:t>
            </a:r>
            <a:r>
              <a:rPr lang="ru-RU" sz="1600"/>
              <a:t> – полотно для рисования</a:t>
            </a:r>
          </a:p>
          <a:p>
            <a:pPr>
              <a:lnSpc>
                <a:spcPct val="91000"/>
              </a:lnSpc>
            </a:pPr>
            <a:r>
              <a:rPr lang="en-US" sz="1600"/>
              <a:t>N</a:t>
            </a:r>
            <a:r>
              <a:rPr lang="ru-RU" sz="1600"/>
              <a:t> – количество итераций </a:t>
            </a:r>
          </a:p>
          <a:p>
            <a:pPr>
              <a:lnSpc>
                <a:spcPct val="91000"/>
              </a:lnSpc>
            </a:pPr>
            <a:r>
              <a:rPr lang="en-US" sz="1600"/>
              <a:t>X0</a:t>
            </a:r>
            <a:r>
              <a:rPr lang="ru-RU" sz="1600"/>
              <a:t> – координата нижней левой точки по оси Х для первого квадрата</a:t>
            </a:r>
          </a:p>
          <a:p>
            <a:pPr>
              <a:lnSpc>
                <a:spcPct val="91000"/>
              </a:lnSpc>
            </a:pPr>
            <a:r>
              <a:rPr lang="en-US" sz="1600"/>
              <a:t>Y0</a:t>
            </a:r>
            <a:r>
              <a:rPr lang="ru-RU" sz="1600"/>
              <a:t>  - координата нижней левой точки по оси </a:t>
            </a:r>
            <a:r>
              <a:rPr lang="en-US" sz="1600"/>
              <a:t>Y</a:t>
            </a:r>
            <a:r>
              <a:rPr lang="ru-RU" sz="1600"/>
              <a:t> для первого квадрата</a:t>
            </a:r>
          </a:p>
          <a:p>
            <a:pPr>
              <a:lnSpc>
                <a:spcPct val="91000"/>
              </a:lnSpc>
            </a:pPr>
            <a:r>
              <a:rPr lang="en-US" sz="1600"/>
              <a:t>Length</a:t>
            </a:r>
            <a:r>
              <a:rPr lang="ru-RU" sz="1600"/>
              <a:t> – длина стороны первого квадрата</a:t>
            </a:r>
          </a:p>
          <a:p>
            <a:pPr>
              <a:lnSpc>
                <a:spcPct val="91000"/>
              </a:lnSpc>
            </a:pPr>
            <a:r>
              <a:rPr lang="en-US" sz="1600" err="1"/>
              <a:t>base_angle</a:t>
            </a:r>
            <a:r>
              <a:rPr lang="ru-RU" sz="1600"/>
              <a:t> – базовый угол наклона </a:t>
            </a:r>
          </a:p>
          <a:p>
            <a:pPr>
              <a:lnSpc>
                <a:spcPct val="91000"/>
              </a:lnSpc>
            </a:pPr>
            <a:r>
              <a:rPr lang="en-US" sz="1600"/>
              <a:t>Angle</a:t>
            </a:r>
            <a:r>
              <a:rPr lang="ru-RU" sz="1600"/>
              <a:t> – угол наклона левой ветви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EC6E07E-2383-4914-8C2E-D6A9A26F478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"/>
          <a:stretch/>
        </p:blipFill>
        <p:spPr>
          <a:xfrm>
            <a:off x="7821168" y="2264988"/>
            <a:ext cx="4370832" cy="3952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22B6B2F-E304-45B6-A612-7C09A56A6911}"/>
              </a:ext>
            </a:extLst>
          </p:cNvPr>
          <p:cNvSpPr txBox="1"/>
          <p:nvPr/>
        </p:nvSpPr>
        <p:spPr>
          <a:xfrm>
            <a:off x="8928243" y="553616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x0, y0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89939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C7ECA8-9C00-4478-8769-A309A4159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640080"/>
            <a:ext cx="4500737" cy="2194560"/>
          </a:xfrm>
        </p:spPr>
        <p:txBody>
          <a:bodyPr>
            <a:normAutofit/>
          </a:bodyPr>
          <a:lstStyle/>
          <a:p>
            <a:r>
              <a:rPr lang="ru-RU" dirty="0"/>
              <a:t>(х1, </a:t>
            </a:r>
            <a:r>
              <a:rPr lang="en-US" dirty="0"/>
              <a:t>y1</a:t>
            </a:r>
            <a:r>
              <a:rPr lang="ru-RU" dirty="0"/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841225-BF82-4374-93CC-A314C89CE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438" y="2916936"/>
            <a:ext cx="4500737" cy="3264408"/>
          </a:xfrm>
        </p:spPr>
        <p:txBody>
          <a:bodyPr anchor="t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x1 = x0 + (int)(length * cos(base_angle))</a:t>
            </a:r>
          </a:p>
          <a:p>
            <a:r>
              <a:rPr lang="en-US">
                <a:solidFill>
                  <a:schemeClr val="bg1"/>
                </a:solidFill>
              </a:rPr>
              <a:t>y1 = y0 - (int)(length * sin(base_angle))</a:t>
            </a:r>
            <a:endParaRPr lang="ru-RU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276BDCF-9C6E-4BC4-A45D-77B8A36FAB3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"/>
          <a:stretch/>
        </p:blipFill>
        <p:spPr>
          <a:xfrm>
            <a:off x="6741822" y="1261136"/>
            <a:ext cx="4795019" cy="433572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76679A0-888C-4AF4-993D-4AAB3FF13201}"/>
              </a:ext>
            </a:extLst>
          </p:cNvPr>
          <p:cNvSpPr txBox="1"/>
          <p:nvPr/>
        </p:nvSpPr>
        <p:spPr>
          <a:xfrm>
            <a:off x="9770723" y="4839128"/>
            <a:ext cx="778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х1, </a:t>
            </a:r>
            <a:r>
              <a:rPr lang="en-US" dirty="0"/>
              <a:t>y1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24831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B66F8-286E-45A4-8E26-250CEE7EB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ru-RU" dirty="0"/>
              <a:t>(х</a:t>
            </a:r>
            <a:r>
              <a:rPr lang="en-US" dirty="0"/>
              <a:t>2</a:t>
            </a:r>
            <a:r>
              <a:rPr lang="ru-RU" dirty="0"/>
              <a:t>, </a:t>
            </a:r>
            <a:r>
              <a:rPr lang="en-US" dirty="0"/>
              <a:t>y2</a:t>
            </a:r>
            <a:r>
              <a:rPr lang="ru-RU" dirty="0"/>
              <a:t>)</a:t>
            </a: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4C8F5A-ABD8-404B-BF0D-24417CE608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625"/>
            <a:ext cx="6214533" cy="3317875"/>
          </a:xfrm>
        </p:spPr>
        <p:txBody>
          <a:bodyPr anchor="ctr">
            <a:normAutofit/>
          </a:bodyPr>
          <a:lstStyle/>
          <a:p>
            <a:r>
              <a:rPr lang="en-US"/>
              <a:t>x2 = x0 + (int)(length * cos(base_angle + pi / 2))</a:t>
            </a:r>
          </a:p>
          <a:p>
            <a:r>
              <a:rPr lang="en-US"/>
              <a:t>y2 = y0 - (int)(length * sin(base_angle + pi / 2))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7521D1F-209D-4DC0-835B-E79B3B6E61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"/>
          <a:stretch/>
        </p:blipFill>
        <p:spPr>
          <a:xfrm>
            <a:off x="7821168" y="2264988"/>
            <a:ext cx="4370832" cy="395218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0CBA72-6901-42E9-94D9-936C25231417}"/>
              </a:ext>
            </a:extLst>
          </p:cNvPr>
          <p:cNvSpPr txBox="1"/>
          <p:nvPr/>
        </p:nvSpPr>
        <p:spPr>
          <a:xfrm>
            <a:off x="8671389" y="4241082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х</a:t>
            </a:r>
            <a:r>
              <a:rPr lang="en-US" dirty="0">
                <a:solidFill>
                  <a:schemeClr val="bg1"/>
                </a:solidFill>
              </a:rPr>
              <a:t>2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y2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0113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513D89-383D-4129-BA93-E2C7BA2E67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ru-RU" dirty="0"/>
              <a:t>(х</a:t>
            </a:r>
            <a:r>
              <a:rPr lang="en-US" dirty="0"/>
              <a:t>3</a:t>
            </a:r>
            <a:r>
              <a:rPr lang="ru-RU" dirty="0"/>
              <a:t>, </a:t>
            </a:r>
            <a:r>
              <a:rPr lang="en-US" dirty="0"/>
              <a:t>y3</a:t>
            </a:r>
            <a:r>
              <a:rPr lang="ru-RU" dirty="0"/>
              <a:t>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1BDC771-C23F-438C-AF40-0261529338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541"/>
          <a:stretch/>
        </p:blipFill>
        <p:spPr>
          <a:xfrm>
            <a:off x="-3048" y="2264988"/>
            <a:ext cx="4370832" cy="3952189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BCCFC00B-C891-438E-9466-3A17D10E6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4426" y="2587625"/>
            <a:ext cx="6223961" cy="3317875"/>
          </a:xfrm>
        </p:spPr>
        <p:txBody>
          <a:bodyPr anchor="ctr">
            <a:normAutofit/>
          </a:bodyPr>
          <a:lstStyle/>
          <a:p>
            <a:r>
              <a:rPr lang="en-US" dirty="0"/>
              <a:t> x3 = x1 + (int)(length * cos(</a:t>
            </a:r>
            <a:r>
              <a:rPr lang="en-US" dirty="0" err="1"/>
              <a:t>base_angle</a:t>
            </a:r>
            <a:r>
              <a:rPr lang="en-US" dirty="0"/>
              <a:t> + pi / 2))</a:t>
            </a:r>
          </a:p>
          <a:p>
            <a:r>
              <a:rPr lang="en-US" dirty="0"/>
              <a:t> y3 = y1 - (int)(length * sin(</a:t>
            </a:r>
            <a:r>
              <a:rPr lang="en-US" dirty="0" err="1"/>
              <a:t>base_angle</a:t>
            </a:r>
            <a:r>
              <a:rPr lang="en-US" dirty="0"/>
              <a:t> + pi / 2))</a:t>
            </a:r>
            <a:endParaRPr lang="ru-R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FBB1F3-801D-4543-A955-914AFD2E636D}"/>
              </a:ext>
            </a:extLst>
          </p:cNvPr>
          <p:cNvSpPr txBox="1"/>
          <p:nvPr/>
        </p:nvSpPr>
        <p:spPr>
          <a:xfrm>
            <a:off x="2866489" y="4241082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х</a:t>
            </a:r>
            <a:r>
              <a:rPr lang="en-US" dirty="0">
                <a:solidFill>
                  <a:schemeClr val="bg1"/>
                </a:solidFill>
              </a:rPr>
              <a:t>3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y3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4638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4" name="Rectangle 10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F337E7-AFBF-4349-9740-3882A3B72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317499"/>
            <a:ext cx="4500737" cy="2095501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</a:rPr>
              <a:t>(х</a:t>
            </a:r>
            <a:r>
              <a:rPr lang="en-US" dirty="0">
                <a:solidFill>
                  <a:schemeClr val="tx1"/>
                </a:solidFill>
              </a:rPr>
              <a:t>4</a:t>
            </a:r>
            <a:r>
              <a:rPr lang="ru-RU" dirty="0">
                <a:solidFill>
                  <a:schemeClr val="tx1"/>
                </a:solidFill>
              </a:rPr>
              <a:t>, </a:t>
            </a:r>
            <a:r>
              <a:rPr lang="en-US" dirty="0">
                <a:solidFill>
                  <a:schemeClr val="tx1"/>
                </a:solidFill>
              </a:rPr>
              <a:t>y4</a:t>
            </a:r>
            <a:r>
              <a:rPr lang="ru-RU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47B3988-4D3B-4CDE-A1DE-382D503C4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438" y="2587625"/>
            <a:ext cx="4500737" cy="3594100"/>
          </a:xfrm>
        </p:spPr>
        <p:txBody>
          <a:bodyPr anchor="t">
            <a:normAutofit/>
          </a:bodyPr>
          <a:lstStyle/>
          <a:p>
            <a:r>
              <a:rPr lang="en-US" dirty="0"/>
              <a:t> x4 = x2 + (int)(length * cos(angle) * cos(</a:t>
            </a:r>
            <a:r>
              <a:rPr lang="en-US" dirty="0" err="1"/>
              <a:t>base_angle</a:t>
            </a:r>
            <a:r>
              <a:rPr lang="en-US" dirty="0"/>
              <a:t> + angle))</a:t>
            </a:r>
          </a:p>
          <a:p>
            <a:r>
              <a:rPr lang="en-US" dirty="0"/>
              <a:t> y4 = y2 - (int)(length * cos(angle) * sin(</a:t>
            </a:r>
            <a:r>
              <a:rPr lang="en-US" dirty="0" err="1"/>
              <a:t>base_angle</a:t>
            </a:r>
            <a:r>
              <a:rPr lang="en-US" dirty="0"/>
              <a:t> + angle))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6DA84B4-BA94-4257-B6C8-FB6A065FC6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525" r="7820" b="-2"/>
          <a:stretch/>
        </p:blipFill>
        <p:spPr>
          <a:xfrm>
            <a:off x="6094474" y="10"/>
            <a:ext cx="6097526" cy="685799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B0FBE25-8236-4151-99DC-1BA82F17AE95}"/>
              </a:ext>
            </a:extLst>
          </p:cNvPr>
          <p:cNvSpPr txBox="1"/>
          <p:nvPr/>
        </p:nvSpPr>
        <p:spPr>
          <a:xfrm>
            <a:off x="8755990" y="1797978"/>
            <a:ext cx="772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bg1"/>
                </a:solidFill>
              </a:rPr>
              <a:t>х</a:t>
            </a:r>
            <a:r>
              <a:rPr lang="en-US" dirty="0">
                <a:solidFill>
                  <a:schemeClr val="bg1"/>
                </a:solidFill>
              </a:rPr>
              <a:t>4</a:t>
            </a:r>
            <a:r>
              <a:rPr lang="ru-RU" dirty="0">
                <a:solidFill>
                  <a:schemeClr val="bg1"/>
                </a:solidFill>
              </a:rPr>
              <a:t>, </a:t>
            </a:r>
            <a:r>
              <a:rPr lang="en-US" dirty="0">
                <a:solidFill>
                  <a:schemeClr val="bg1"/>
                </a:solidFill>
              </a:rPr>
              <a:t>y4</a:t>
            </a:r>
            <a:endParaRPr lang="ru-R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08996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FBAAB5-E532-4BBF-94B3-EFC24DF03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ru-RU" sz="6100" dirty="0"/>
              <a:t>Соединяем точки линиями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1910E1-4ED5-4F18-A740-30E735420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258102"/>
          </a:xfrm>
        </p:spPr>
        <p:txBody>
          <a:bodyPr anchor="ctr">
            <a:normAutofit/>
          </a:bodyPr>
          <a:lstStyle/>
          <a:p>
            <a:r>
              <a:rPr lang="es-ES" dirty="0"/>
              <a:t>c.create_line(x0, y0, x1, y1)</a:t>
            </a:r>
          </a:p>
          <a:p>
            <a:r>
              <a:rPr lang="es-ES" dirty="0"/>
              <a:t>c.create_line(x0, y0, x2, y2)</a:t>
            </a:r>
          </a:p>
          <a:p>
            <a:r>
              <a:rPr lang="es-ES" dirty="0"/>
              <a:t>c.create_line(x2, y2, x3, y3)</a:t>
            </a:r>
          </a:p>
          <a:p>
            <a:r>
              <a:rPr lang="es-ES" dirty="0"/>
              <a:t>c.create_line(x1, y1, x3, y3)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862606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062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DAF76A-6113-4F72-8529-B36AF864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0080"/>
            <a:ext cx="10268712" cy="322783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/>
              <a:t>if n &gt; 0:</a:t>
            </a:r>
          </a:p>
        </p:txBody>
      </p:sp>
    </p:spTree>
    <p:extLst>
      <p:ext uri="{BB962C8B-B14F-4D97-AF65-F5344CB8AC3E}">
        <p14:creationId xmlns:p14="http://schemas.microsoft.com/office/powerpoint/2010/main" val="16829828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218107-B5A4-4F00-8162-858262E81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ru-RU" dirty="0"/>
              <a:t>Отрисовка левой ветви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F41011-B00C-4514-8AA3-CCB44D0B2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258102"/>
          </a:xfrm>
        </p:spPr>
        <p:txBody>
          <a:bodyPr anchor="ctr">
            <a:normAutofit/>
          </a:bodyPr>
          <a:lstStyle/>
          <a:p>
            <a:endParaRPr lang="ru-RU" dirty="0"/>
          </a:p>
          <a:p>
            <a:r>
              <a:rPr lang="en-US" dirty="0" err="1"/>
              <a:t>left_base_angle</a:t>
            </a:r>
            <a:r>
              <a:rPr lang="en-US" dirty="0"/>
              <a:t> = </a:t>
            </a:r>
            <a:r>
              <a:rPr lang="en-US" dirty="0" err="1"/>
              <a:t>base_angle</a:t>
            </a:r>
            <a:r>
              <a:rPr lang="en-US" dirty="0"/>
              <a:t> + angle</a:t>
            </a:r>
          </a:p>
          <a:p>
            <a:r>
              <a:rPr lang="en-US" dirty="0" err="1"/>
              <a:t>left_length</a:t>
            </a:r>
            <a:r>
              <a:rPr lang="en-US" dirty="0"/>
              <a:t> = length * cos(angle)</a:t>
            </a:r>
          </a:p>
          <a:p>
            <a:r>
              <a:rPr lang="en-US" dirty="0"/>
              <a:t>tree(c, n - 1, x2, y2, </a:t>
            </a:r>
            <a:r>
              <a:rPr lang="en-US" dirty="0" err="1"/>
              <a:t>left_length</a:t>
            </a:r>
            <a:r>
              <a:rPr lang="en-US" dirty="0"/>
              <a:t>, </a:t>
            </a:r>
            <a:r>
              <a:rPr lang="en-US" dirty="0" err="1"/>
              <a:t>left_base_angle</a:t>
            </a:r>
            <a:r>
              <a:rPr lang="en-US" dirty="0"/>
              <a:t>, angle)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79895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8BCC64-38CA-4D8B-8A26-EDFB84AE0B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>
            <a:normAutofit/>
          </a:bodyPr>
          <a:lstStyle/>
          <a:p>
            <a:r>
              <a:rPr lang="ru-RU" dirty="0"/>
              <a:t>Отрисовка правой ветви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7248369-464E-49D1-91FC-BC34A50A6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2264989"/>
            <a:ext cx="12188952" cy="3952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3401A93-9913-4851-B275-5C8988BBE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587752"/>
            <a:ext cx="10268712" cy="3258102"/>
          </a:xfrm>
        </p:spPr>
        <p:txBody>
          <a:bodyPr anchor="ctr">
            <a:normAutofit/>
          </a:bodyPr>
          <a:lstStyle/>
          <a:p>
            <a:r>
              <a:rPr lang="en-US" dirty="0" err="1"/>
              <a:t>right_base_angle</a:t>
            </a:r>
            <a:r>
              <a:rPr lang="en-US" dirty="0"/>
              <a:t> = </a:t>
            </a:r>
            <a:r>
              <a:rPr lang="en-US" dirty="0" err="1"/>
              <a:t>base_angle</a:t>
            </a:r>
            <a:r>
              <a:rPr lang="en-US" dirty="0"/>
              <a:t> - pi / 2 + angle</a:t>
            </a:r>
          </a:p>
          <a:p>
            <a:r>
              <a:rPr lang="en-US" dirty="0" err="1"/>
              <a:t>right_length</a:t>
            </a:r>
            <a:r>
              <a:rPr lang="en-US" dirty="0"/>
              <a:t> = length * sin(angle)</a:t>
            </a:r>
          </a:p>
          <a:p>
            <a:r>
              <a:rPr lang="en-US" dirty="0"/>
              <a:t>tree(c, n - 1, x4, y4, </a:t>
            </a:r>
            <a:r>
              <a:rPr lang="en-US" dirty="0" err="1"/>
              <a:t>right_length</a:t>
            </a:r>
            <a:r>
              <a:rPr lang="en-US" dirty="0"/>
              <a:t>, </a:t>
            </a:r>
            <a:r>
              <a:rPr lang="en-US" dirty="0" err="1"/>
              <a:t>right_base_angle</a:t>
            </a:r>
            <a:r>
              <a:rPr lang="en-US" dirty="0"/>
              <a:t>, angle)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5235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03184C-3688-4873-8D12-ACCA31776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3467"/>
            <a:ext cx="4628638" cy="5571066"/>
          </a:xfrm>
        </p:spPr>
        <p:txBody>
          <a:bodyPr>
            <a:normAutofit/>
          </a:bodyPr>
          <a:lstStyle/>
          <a:p>
            <a:r>
              <a:rPr lang="ru-RU" sz="4100" dirty="0"/>
              <a:t>Инициализация полотна для рисования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9E8174F-F98D-420A-A092-2514170859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5296" y="643467"/>
            <a:ext cx="4653536" cy="5571066"/>
          </a:xfrm>
        </p:spPr>
        <p:txBody>
          <a:bodyPr anchor="ctr">
            <a:normAutofit/>
          </a:bodyPr>
          <a:lstStyle/>
          <a:p>
            <a:r>
              <a:rPr lang="en-US" dirty="0"/>
              <a:t>root = Tk()</a:t>
            </a:r>
          </a:p>
          <a:p>
            <a:r>
              <a:rPr lang="en-US" dirty="0"/>
              <a:t>c = Canvas(root, width=700, height=700, </a:t>
            </a:r>
            <a:r>
              <a:rPr lang="en-US" dirty="0" err="1"/>
              <a:t>bg</a:t>
            </a:r>
            <a:r>
              <a:rPr lang="en-US" dirty="0"/>
              <a:t>='white')</a:t>
            </a:r>
          </a:p>
          <a:p>
            <a:r>
              <a:rPr lang="en-US" dirty="0" err="1"/>
              <a:t>c.pack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09136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7E47BF6-C0ED-413B-93F1-8DB05696A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Вызов функции для отрисовки дерева </a:t>
            </a:r>
            <a:r>
              <a:rPr lang="ru-RU" dirty="0" err="1"/>
              <a:t>пифагора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6CE140-D77F-48B9-BA69-FD1A1ACBD7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tree(c, 10, 300, 500, 100, 0, pi / 4)</a:t>
            </a:r>
          </a:p>
          <a:p>
            <a:r>
              <a:rPr lang="en-US" dirty="0" err="1"/>
              <a:t>root.mainloop</a:t>
            </a:r>
            <a:r>
              <a:rPr lang="en-US" dirty="0"/>
              <a:t>()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020588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595C97-04E2-4F1F-AE41-49DB77459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/>
              <a:t>Универсальность программы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202603F-B11F-4382-9B7B-8096219AB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799215"/>
            <a:ext cx="3131312" cy="2763382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46BE2B2-F9AE-4C4B-B981-3D137D46BD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345" y="834443"/>
            <a:ext cx="3131312" cy="2692927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8347896-434D-4EBF-8955-A7DEC2FF70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6288" y="998837"/>
            <a:ext cx="3131312" cy="2364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4238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9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1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7462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3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8C0648-98AD-4E0F-8D0D-2A9D62AFA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5736" y="640081"/>
            <a:ext cx="5916145" cy="38121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Универсальность программы</a:t>
            </a:r>
          </a:p>
        </p:txBody>
      </p:sp>
      <p:pic>
        <p:nvPicPr>
          <p:cNvPr id="4" name="Объект 3">
            <a:extLst>
              <a:ext uri="{FF2B5EF4-FFF2-40B4-BE49-F238E27FC236}">
                <a16:creationId xmlns:a16="http://schemas.microsoft.com/office/drawing/2014/main" id="{E4A0C33E-E9D4-42D1-8460-DD5F3F91F07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9111" y="640081"/>
            <a:ext cx="2860505" cy="2467186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C35ACC2-ACD6-4B73-A752-14504F9FB0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71" y="3687482"/>
            <a:ext cx="2861386" cy="230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9130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734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06B7EA-D9C0-4CBD-90AB-D3339A51B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3467"/>
            <a:ext cx="3212593" cy="5571066"/>
          </a:xfrm>
        </p:spPr>
        <p:txBody>
          <a:bodyPr>
            <a:normAutofit/>
          </a:bodyPr>
          <a:lstStyle/>
          <a:p>
            <a:r>
              <a:rPr lang="ru-RU" sz="6100"/>
              <a:t>Выводы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295E0401-DD7B-4708-9911-1C66CD32D8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3249489"/>
              </p:ext>
            </p:extLst>
          </p:nvPr>
        </p:nvGraphicFramePr>
        <p:xfrm>
          <a:off x="5411638" y="643467"/>
          <a:ext cx="5816750" cy="557106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865389"/>
      </p:ext>
    </p:extLst>
  </p:cSld>
  <p:clrMapOvr>
    <a:masterClrMapping/>
  </p:clrMapOvr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549</Words>
  <Application>Microsoft Office PowerPoint</Application>
  <PresentationFormat>Широкоэкранный</PresentationFormat>
  <Paragraphs>62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1" baseType="lpstr">
      <vt:lpstr>Arial</vt:lpstr>
      <vt:lpstr>Franklin Gothic Demi Cond</vt:lpstr>
      <vt:lpstr>Franklin Gothic Medium</vt:lpstr>
      <vt:lpstr>Wingdings</vt:lpstr>
      <vt:lpstr>JuxtaposeVTI</vt:lpstr>
      <vt:lpstr>Неравновесная агрегация, фракталы</vt:lpstr>
      <vt:lpstr>Подключение библиотек</vt:lpstr>
      <vt:lpstr>Функция tree и ее входные данные  tree(c, n, x0, y0, length, base_angle, angle)</vt:lpstr>
      <vt:lpstr>(х1, y1)</vt:lpstr>
      <vt:lpstr>(х2, y2)</vt:lpstr>
      <vt:lpstr>(х3, y3)</vt:lpstr>
      <vt:lpstr>(х4, y4)</vt:lpstr>
      <vt:lpstr>Соединяем точки линиями</vt:lpstr>
      <vt:lpstr>if n &gt; 0:</vt:lpstr>
      <vt:lpstr>Отрисовка левой ветви</vt:lpstr>
      <vt:lpstr>Отрисовка правой ветви</vt:lpstr>
      <vt:lpstr>Инициализация полотна для рисования</vt:lpstr>
      <vt:lpstr>Вызов функции для отрисовки дерева пифагора</vt:lpstr>
      <vt:lpstr>Универсальность программы</vt:lpstr>
      <vt:lpstr>Универсальность программы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Неравновесная агрегация, фракталы</dc:title>
  <dc:creator>Варвара Виноградова</dc:creator>
  <cp:lastModifiedBy>Варвара Виноградова</cp:lastModifiedBy>
  <cp:revision>2</cp:revision>
  <dcterms:created xsi:type="dcterms:W3CDTF">2021-03-13T18:54:12Z</dcterms:created>
  <dcterms:modified xsi:type="dcterms:W3CDTF">2021-03-13T18:59:20Z</dcterms:modified>
</cp:coreProperties>
</file>
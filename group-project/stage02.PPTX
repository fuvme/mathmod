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0" r:id="rId5"/>
    <p:sldId id="263" r:id="rId6"/>
    <p:sldId id="259" r:id="rId7"/>
    <p:sldId id="264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4" d="100"/>
          <a:sy n="44" d="100"/>
        </p:scale>
        <p:origin x="150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A4DC1A-B10A-4B1D-8388-DA888BA4FC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22598F-B935-4F17-899A-B43098F0EEEF}">
      <dgm:prSet/>
      <dgm:spPr/>
      <dgm:t>
        <a:bodyPr/>
        <a:lstStyle/>
        <a:p>
          <a:r>
            <a:rPr lang="ru-RU"/>
            <a:t>Выбрали вид дерева для моделирования</a:t>
          </a:r>
          <a:endParaRPr lang="en-US"/>
        </a:p>
      </dgm:t>
    </dgm:pt>
    <dgm:pt modelId="{73135A0D-B032-4069-9868-D1903684E5FB}" type="parTrans" cxnId="{F2E9EE84-3D39-4869-A7D0-0D459A742AF8}">
      <dgm:prSet/>
      <dgm:spPr/>
      <dgm:t>
        <a:bodyPr/>
        <a:lstStyle/>
        <a:p>
          <a:endParaRPr lang="en-US"/>
        </a:p>
      </dgm:t>
    </dgm:pt>
    <dgm:pt modelId="{39EA5995-B37A-473A-A32B-EF99BF7144D3}" type="sibTrans" cxnId="{F2E9EE84-3D39-4869-A7D0-0D459A742AF8}">
      <dgm:prSet/>
      <dgm:spPr/>
      <dgm:t>
        <a:bodyPr/>
        <a:lstStyle/>
        <a:p>
          <a:endParaRPr lang="en-US"/>
        </a:p>
      </dgm:t>
    </dgm:pt>
    <dgm:pt modelId="{0FABB58C-ED65-42C9-B55A-5CD1D658A2BA}">
      <dgm:prSet/>
      <dgm:spPr/>
      <dgm:t>
        <a:bodyPr/>
        <a:lstStyle/>
        <a:p>
          <a:r>
            <a:rPr lang="ru-RU"/>
            <a:t>Разобрались с этапами моделирования</a:t>
          </a:r>
          <a:endParaRPr lang="en-US"/>
        </a:p>
      </dgm:t>
    </dgm:pt>
    <dgm:pt modelId="{CA95D1AD-8E10-4331-8404-BF17EB921B44}" type="parTrans" cxnId="{7A2903A6-DDC0-4BEB-9262-9CDC8E34F9B7}">
      <dgm:prSet/>
      <dgm:spPr/>
      <dgm:t>
        <a:bodyPr/>
        <a:lstStyle/>
        <a:p>
          <a:endParaRPr lang="en-US"/>
        </a:p>
      </dgm:t>
    </dgm:pt>
    <dgm:pt modelId="{50150D1E-566C-4071-AA7B-9C8D7164E5A5}" type="sibTrans" cxnId="{7A2903A6-DDC0-4BEB-9262-9CDC8E34F9B7}">
      <dgm:prSet/>
      <dgm:spPr/>
      <dgm:t>
        <a:bodyPr/>
        <a:lstStyle/>
        <a:p>
          <a:endParaRPr lang="en-US"/>
        </a:p>
      </dgm:t>
    </dgm:pt>
    <dgm:pt modelId="{5D830C4E-F96F-4B47-8728-F9528C29B74D}">
      <dgm:prSet/>
      <dgm:spPr/>
      <dgm:t>
        <a:bodyPr/>
        <a:lstStyle/>
        <a:p>
          <a:r>
            <a:rPr lang="ru-RU"/>
            <a:t>Написали уравнения, которые будут использованы в коде</a:t>
          </a:r>
          <a:endParaRPr lang="en-US"/>
        </a:p>
      </dgm:t>
    </dgm:pt>
    <dgm:pt modelId="{BCD948AC-7100-4933-A1ED-F37A70FC6DB9}" type="parTrans" cxnId="{F64D558B-8FC1-4372-B87A-BB41865B5B3B}">
      <dgm:prSet/>
      <dgm:spPr/>
      <dgm:t>
        <a:bodyPr/>
        <a:lstStyle/>
        <a:p>
          <a:endParaRPr lang="en-US"/>
        </a:p>
      </dgm:t>
    </dgm:pt>
    <dgm:pt modelId="{554C9C2D-D170-49AF-BDF2-53BC410AB395}" type="sibTrans" cxnId="{F64D558B-8FC1-4372-B87A-BB41865B5B3B}">
      <dgm:prSet/>
      <dgm:spPr/>
      <dgm:t>
        <a:bodyPr/>
        <a:lstStyle/>
        <a:p>
          <a:endParaRPr lang="en-US"/>
        </a:p>
      </dgm:t>
    </dgm:pt>
    <dgm:pt modelId="{CC681511-9DAB-4491-BAEF-BCDAF97E113E}" type="pres">
      <dgm:prSet presAssocID="{E1A4DC1A-B10A-4B1D-8388-DA888BA4FCD7}" presName="root" presStyleCnt="0">
        <dgm:presLayoutVars>
          <dgm:dir/>
          <dgm:resizeHandles val="exact"/>
        </dgm:presLayoutVars>
      </dgm:prSet>
      <dgm:spPr/>
    </dgm:pt>
    <dgm:pt modelId="{3D402284-B4DF-4850-8130-49D09D201CB7}" type="pres">
      <dgm:prSet presAssocID="{BC22598F-B935-4F17-899A-B43098F0EEEF}" presName="compNode" presStyleCnt="0"/>
      <dgm:spPr/>
    </dgm:pt>
    <dgm:pt modelId="{1CB4CB0A-7D73-41E8-B582-D14255C81AE2}" type="pres">
      <dgm:prSet presAssocID="{BC22598F-B935-4F17-899A-B43098F0EEEF}" presName="bgRect" presStyleLbl="bgShp" presStyleIdx="0" presStyleCnt="3"/>
      <dgm:spPr/>
    </dgm:pt>
    <dgm:pt modelId="{06F27AE4-F12D-4AAD-829B-B8DFB7649AA6}" type="pres">
      <dgm:prSet presAssocID="{BC22598F-B935-4F17-899A-B43098F0EE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96449FE6-1753-473B-972A-61D95B39335C}" type="pres">
      <dgm:prSet presAssocID="{BC22598F-B935-4F17-899A-B43098F0EEEF}" presName="spaceRect" presStyleCnt="0"/>
      <dgm:spPr/>
    </dgm:pt>
    <dgm:pt modelId="{C9758759-A9FF-4756-B596-C8B7EC33A350}" type="pres">
      <dgm:prSet presAssocID="{BC22598F-B935-4F17-899A-B43098F0EEEF}" presName="parTx" presStyleLbl="revTx" presStyleIdx="0" presStyleCnt="3">
        <dgm:presLayoutVars>
          <dgm:chMax val="0"/>
          <dgm:chPref val="0"/>
        </dgm:presLayoutVars>
      </dgm:prSet>
      <dgm:spPr/>
    </dgm:pt>
    <dgm:pt modelId="{6EF0EC15-03CF-4451-BA11-A28FE1D9B9C3}" type="pres">
      <dgm:prSet presAssocID="{39EA5995-B37A-473A-A32B-EF99BF7144D3}" presName="sibTrans" presStyleCnt="0"/>
      <dgm:spPr/>
    </dgm:pt>
    <dgm:pt modelId="{4279DFF6-6FCF-4CA0-BD13-ABC9C343D74E}" type="pres">
      <dgm:prSet presAssocID="{0FABB58C-ED65-42C9-B55A-5CD1D658A2BA}" presName="compNode" presStyleCnt="0"/>
      <dgm:spPr/>
    </dgm:pt>
    <dgm:pt modelId="{6C28F469-0779-4ABB-8AB2-048B5B499E24}" type="pres">
      <dgm:prSet presAssocID="{0FABB58C-ED65-42C9-B55A-5CD1D658A2BA}" presName="bgRect" presStyleLbl="bgShp" presStyleIdx="1" presStyleCnt="3"/>
      <dgm:spPr/>
    </dgm:pt>
    <dgm:pt modelId="{0F0AE9EF-3EEF-4FDD-BF61-632634512FDC}" type="pres">
      <dgm:prSet presAssocID="{0FABB58C-ED65-42C9-B55A-5CD1D658A2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Шестеренки"/>
        </a:ext>
      </dgm:extLst>
    </dgm:pt>
    <dgm:pt modelId="{2D11AA91-354B-4A13-AFDF-5798579C702E}" type="pres">
      <dgm:prSet presAssocID="{0FABB58C-ED65-42C9-B55A-5CD1D658A2BA}" presName="spaceRect" presStyleCnt="0"/>
      <dgm:spPr/>
    </dgm:pt>
    <dgm:pt modelId="{89D2614F-EAB5-4E50-AC40-261CA9985233}" type="pres">
      <dgm:prSet presAssocID="{0FABB58C-ED65-42C9-B55A-5CD1D658A2BA}" presName="parTx" presStyleLbl="revTx" presStyleIdx="1" presStyleCnt="3">
        <dgm:presLayoutVars>
          <dgm:chMax val="0"/>
          <dgm:chPref val="0"/>
        </dgm:presLayoutVars>
      </dgm:prSet>
      <dgm:spPr/>
    </dgm:pt>
    <dgm:pt modelId="{602E5A88-46D2-42E0-8D99-C55CFDEFF524}" type="pres">
      <dgm:prSet presAssocID="{50150D1E-566C-4071-AA7B-9C8D7164E5A5}" presName="sibTrans" presStyleCnt="0"/>
      <dgm:spPr/>
    </dgm:pt>
    <dgm:pt modelId="{986B2DB3-49CE-4392-9C85-464A3814A058}" type="pres">
      <dgm:prSet presAssocID="{5D830C4E-F96F-4B47-8728-F9528C29B74D}" presName="compNode" presStyleCnt="0"/>
      <dgm:spPr/>
    </dgm:pt>
    <dgm:pt modelId="{B6846CDD-87F7-49DE-8D15-76B813D1EE6A}" type="pres">
      <dgm:prSet presAssocID="{5D830C4E-F96F-4B47-8728-F9528C29B74D}" presName="bgRect" presStyleLbl="bgShp" presStyleIdx="2" presStyleCnt="3"/>
      <dgm:spPr/>
    </dgm:pt>
    <dgm:pt modelId="{D1BC56B5-3FC4-4A53-B09B-0EB26FCD3A42}" type="pres">
      <dgm:prSet presAssocID="{5D830C4E-F96F-4B47-8728-F9528C29B7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Документ"/>
        </a:ext>
      </dgm:extLst>
    </dgm:pt>
    <dgm:pt modelId="{1A4D6597-6064-4896-AAF8-86D96276D97D}" type="pres">
      <dgm:prSet presAssocID="{5D830C4E-F96F-4B47-8728-F9528C29B74D}" presName="spaceRect" presStyleCnt="0"/>
      <dgm:spPr/>
    </dgm:pt>
    <dgm:pt modelId="{D3B33B26-1024-4BF1-B026-9AE67A27B7A0}" type="pres">
      <dgm:prSet presAssocID="{5D830C4E-F96F-4B47-8728-F9528C29B74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143E368-2B74-46AB-9AE6-A58B50F49DD7}" type="presOf" srcId="{5D830C4E-F96F-4B47-8728-F9528C29B74D}" destId="{D3B33B26-1024-4BF1-B026-9AE67A27B7A0}" srcOrd="0" destOrd="0" presId="urn:microsoft.com/office/officeart/2018/2/layout/IconVerticalSolidList"/>
    <dgm:cxn modelId="{24372C4B-E5F6-4564-AC75-888E12CD8DFF}" type="presOf" srcId="{0FABB58C-ED65-42C9-B55A-5CD1D658A2BA}" destId="{89D2614F-EAB5-4E50-AC40-261CA9985233}" srcOrd="0" destOrd="0" presId="urn:microsoft.com/office/officeart/2018/2/layout/IconVerticalSolidList"/>
    <dgm:cxn modelId="{57EAE151-2CD6-44BF-B0CD-176D74FDAE1A}" type="presOf" srcId="{E1A4DC1A-B10A-4B1D-8388-DA888BA4FCD7}" destId="{CC681511-9DAB-4491-BAEF-BCDAF97E113E}" srcOrd="0" destOrd="0" presId="urn:microsoft.com/office/officeart/2018/2/layout/IconVerticalSolidList"/>
    <dgm:cxn modelId="{6D4E1A53-B605-47AA-87C2-4F2AFE95421A}" type="presOf" srcId="{BC22598F-B935-4F17-899A-B43098F0EEEF}" destId="{C9758759-A9FF-4756-B596-C8B7EC33A350}" srcOrd="0" destOrd="0" presId="urn:microsoft.com/office/officeart/2018/2/layout/IconVerticalSolidList"/>
    <dgm:cxn modelId="{F2E9EE84-3D39-4869-A7D0-0D459A742AF8}" srcId="{E1A4DC1A-B10A-4B1D-8388-DA888BA4FCD7}" destId="{BC22598F-B935-4F17-899A-B43098F0EEEF}" srcOrd="0" destOrd="0" parTransId="{73135A0D-B032-4069-9868-D1903684E5FB}" sibTransId="{39EA5995-B37A-473A-A32B-EF99BF7144D3}"/>
    <dgm:cxn modelId="{F64D558B-8FC1-4372-B87A-BB41865B5B3B}" srcId="{E1A4DC1A-B10A-4B1D-8388-DA888BA4FCD7}" destId="{5D830C4E-F96F-4B47-8728-F9528C29B74D}" srcOrd="2" destOrd="0" parTransId="{BCD948AC-7100-4933-A1ED-F37A70FC6DB9}" sibTransId="{554C9C2D-D170-49AF-BDF2-53BC410AB395}"/>
    <dgm:cxn modelId="{7A2903A6-DDC0-4BEB-9262-9CDC8E34F9B7}" srcId="{E1A4DC1A-B10A-4B1D-8388-DA888BA4FCD7}" destId="{0FABB58C-ED65-42C9-B55A-5CD1D658A2BA}" srcOrd="1" destOrd="0" parTransId="{CA95D1AD-8E10-4331-8404-BF17EB921B44}" sibTransId="{50150D1E-566C-4071-AA7B-9C8D7164E5A5}"/>
    <dgm:cxn modelId="{F69AE992-CCA2-4C3F-81B2-05D8D0D3735A}" type="presParOf" srcId="{CC681511-9DAB-4491-BAEF-BCDAF97E113E}" destId="{3D402284-B4DF-4850-8130-49D09D201CB7}" srcOrd="0" destOrd="0" presId="urn:microsoft.com/office/officeart/2018/2/layout/IconVerticalSolidList"/>
    <dgm:cxn modelId="{2A026B59-D0A1-4161-ACD8-03C55F14F7BF}" type="presParOf" srcId="{3D402284-B4DF-4850-8130-49D09D201CB7}" destId="{1CB4CB0A-7D73-41E8-B582-D14255C81AE2}" srcOrd="0" destOrd="0" presId="urn:microsoft.com/office/officeart/2018/2/layout/IconVerticalSolidList"/>
    <dgm:cxn modelId="{D77BA4DC-70CE-4C1A-8715-D5B41D30BA0A}" type="presParOf" srcId="{3D402284-B4DF-4850-8130-49D09D201CB7}" destId="{06F27AE4-F12D-4AAD-829B-B8DFB7649AA6}" srcOrd="1" destOrd="0" presId="urn:microsoft.com/office/officeart/2018/2/layout/IconVerticalSolidList"/>
    <dgm:cxn modelId="{CFAFB360-F0BD-4C14-A4A5-D3D4717CDB68}" type="presParOf" srcId="{3D402284-B4DF-4850-8130-49D09D201CB7}" destId="{96449FE6-1753-473B-972A-61D95B39335C}" srcOrd="2" destOrd="0" presId="urn:microsoft.com/office/officeart/2018/2/layout/IconVerticalSolidList"/>
    <dgm:cxn modelId="{41417B85-2B3E-4692-AE17-17E09EB3AAA6}" type="presParOf" srcId="{3D402284-B4DF-4850-8130-49D09D201CB7}" destId="{C9758759-A9FF-4756-B596-C8B7EC33A350}" srcOrd="3" destOrd="0" presId="urn:microsoft.com/office/officeart/2018/2/layout/IconVerticalSolidList"/>
    <dgm:cxn modelId="{D03CF2FA-76A1-4549-B1FB-70D33E803076}" type="presParOf" srcId="{CC681511-9DAB-4491-BAEF-BCDAF97E113E}" destId="{6EF0EC15-03CF-4451-BA11-A28FE1D9B9C3}" srcOrd="1" destOrd="0" presId="urn:microsoft.com/office/officeart/2018/2/layout/IconVerticalSolidList"/>
    <dgm:cxn modelId="{3D096C86-E133-4790-A0A7-91D616ED6F60}" type="presParOf" srcId="{CC681511-9DAB-4491-BAEF-BCDAF97E113E}" destId="{4279DFF6-6FCF-4CA0-BD13-ABC9C343D74E}" srcOrd="2" destOrd="0" presId="urn:microsoft.com/office/officeart/2018/2/layout/IconVerticalSolidList"/>
    <dgm:cxn modelId="{E304015C-85C9-4E05-8D23-BA60B44C1480}" type="presParOf" srcId="{4279DFF6-6FCF-4CA0-BD13-ABC9C343D74E}" destId="{6C28F469-0779-4ABB-8AB2-048B5B499E24}" srcOrd="0" destOrd="0" presId="urn:microsoft.com/office/officeart/2018/2/layout/IconVerticalSolidList"/>
    <dgm:cxn modelId="{4643C318-5201-495F-B94F-D6C003278D76}" type="presParOf" srcId="{4279DFF6-6FCF-4CA0-BD13-ABC9C343D74E}" destId="{0F0AE9EF-3EEF-4FDD-BF61-632634512FDC}" srcOrd="1" destOrd="0" presId="urn:microsoft.com/office/officeart/2018/2/layout/IconVerticalSolidList"/>
    <dgm:cxn modelId="{A9450D9F-4DF2-45E7-83E5-1795E7513ADD}" type="presParOf" srcId="{4279DFF6-6FCF-4CA0-BD13-ABC9C343D74E}" destId="{2D11AA91-354B-4A13-AFDF-5798579C702E}" srcOrd="2" destOrd="0" presId="urn:microsoft.com/office/officeart/2018/2/layout/IconVerticalSolidList"/>
    <dgm:cxn modelId="{B04BFE85-6213-47DE-82B1-A85CF5868932}" type="presParOf" srcId="{4279DFF6-6FCF-4CA0-BD13-ABC9C343D74E}" destId="{89D2614F-EAB5-4E50-AC40-261CA9985233}" srcOrd="3" destOrd="0" presId="urn:microsoft.com/office/officeart/2018/2/layout/IconVerticalSolidList"/>
    <dgm:cxn modelId="{A0679509-01CB-4848-B3F7-6946068028BA}" type="presParOf" srcId="{CC681511-9DAB-4491-BAEF-BCDAF97E113E}" destId="{602E5A88-46D2-42E0-8D99-C55CFDEFF524}" srcOrd="3" destOrd="0" presId="urn:microsoft.com/office/officeart/2018/2/layout/IconVerticalSolidList"/>
    <dgm:cxn modelId="{CDB4FE86-6AE7-4BA1-AD94-C4462C29E2D4}" type="presParOf" srcId="{CC681511-9DAB-4491-BAEF-BCDAF97E113E}" destId="{986B2DB3-49CE-4392-9C85-464A3814A058}" srcOrd="4" destOrd="0" presId="urn:microsoft.com/office/officeart/2018/2/layout/IconVerticalSolidList"/>
    <dgm:cxn modelId="{501DD59C-4CF0-4BF1-A23A-9773A20E214A}" type="presParOf" srcId="{986B2DB3-49CE-4392-9C85-464A3814A058}" destId="{B6846CDD-87F7-49DE-8D15-76B813D1EE6A}" srcOrd="0" destOrd="0" presId="urn:microsoft.com/office/officeart/2018/2/layout/IconVerticalSolidList"/>
    <dgm:cxn modelId="{85275448-70D6-4F67-9E1A-36940C6EA7A1}" type="presParOf" srcId="{986B2DB3-49CE-4392-9C85-464A3814A058}" destId="{D1BC56B5-3FC4-4A53-B09B-0EB26FCD3A42}" srcOrd="1" destOrd="0" presId="urn:microsoft.com/office/officeart/2018/2/layout/IconVerticalSolidList"/>
    <dgm:cxn modelId="{ED55DF30-6602-4D48-9421-7D474417C5FE}" type="presParOf" srcId="{986B2DB3-49CE-4392-9C85-464A3814A058}" destId="{1A4D6597-6064-4896-AAF8-86D96276D97D}" srcOrd="2" destOrd="0" presId="urn:microsoft.com/office/officeart/2018/2/layout/IconVerticalSolidList"/>
    <dgm:cxn modelId="{E2F8B654-243C-4E55-AE3B-B812963E4A7A}" type="presParOf" srcId="{986B2DB3-49CE-4392-9C85-464A3814A058}" destId="{D3B33B26-1024-4BF1-B026-9AE67A27B7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4CB0A-7D73-41E8-B582-D14255C81AE2}">
      <dsp:nvSpPr>
        <dsp:cNvPr id="0" name=""/>
        <dsp:cNvSpPr/>
      </dsp:nvSpPr>
      <dsp:spPr>
        <a:xfrm>
          <a:off x="0" y="652"/>
          <a:ext cx="6858000" cy="15263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27AE4-F12D-4AAD-829B-B8DFB7649AA6}">
      <dsp:nvSpPr>
        <dsp:cNvPr id="0" name=""/>
        <dsp:cNvSpPr/>
      </dsp:nvSpPr>
      <dsp:spPr>
        <a:xfrm>
          <a:off x="461720" y="344080"/>
          <a:ext cx="839491" cy="8394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58759-A9FF-4756-B596-C8B7EC33A350}">
      <dsp:nvSpPr>
        <dsp:cNvPr id="0" name=""/>
        <dsp:cNvSpPr/>
      </dsp:nvSpPr>
      <dsp:spPr>
        <a:xfrm>
          <a:off x="1762933" y="652"/>
          <a:ext cx="5095066" cy="1526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539" tIns="161539" rIns="161539" bIns="16153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Выбрали вид дерева для моделирования</a:t>
          </a:r>
          <a:endParaRPr lang="en-US" sz="2500" kern="1200"/>
        </a:p>
      </dsp:txBody>
      <dsp:txXfrm>
        <a:off x="1762933" y="652"/>
        <a:ext cx="5095066" cy="1526348"/>
      </dsp:txXfrm>
    </dsp:sp>
    <dsp:sp modelId="{6C28F469-0779-4ABB-8AB2-048B5B499E24}">
      <dsp:nvSpPr>
        <dsp:cNvPr id="0" name=""/>
        <dsp:cNvSpPr/>
      </dsp:nvSpPr>
      <dsp:spPr>
        <a:xfrm>
          <a:off x="0" y="1908588"/>
          <a:ext cx="6858000" cy="15263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0AE9EF-3EEF-4FDD-BF61-632634512FDC}">
      <dsp:nvSpPr>
        <dsp:cNvPr id="0" name=""/>
        <dsp:cNvSpPr/>
      </dsp:nvSpPr>
      <dsp:spPr>
        <a:xfrm>
          <a:off x="461720" y="2252017"/>
          <a:ext cx="839491" cy="8394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2614F-EAB5-4E50-AC40-261CA9985233}">
      <dsp:nvSpPr>
        <dsp:cNvPr id="0" name=""/>
        <dsp:cNvSpPr/>
      </dsp:nvSpPr>
      <dsp:spPr>
        <a:xfrm>
          <a:off x="1762933" y="1908588"/>
          <a:ext cx="5095066" cy="1526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539" tIns="161539" rIns="161539" bIns="16153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Разобрались с этапами моделирования</a:t>
          </a:r>
          <a:endParaRPr lang="en-US" sz="2500" kern="1200"/>
        </a:p>
      </dsp:txBody>
      <dsp:txXfrm>
        <a:off x="1762933" y="1908588"/>
        <a:ext cx="5095066" cy="1526348"/>
      </dsp:txXfrm>
    </dsp:sp>
    <dsp:sp modelId="{B6846CDD-87F7-49DE-8D15-76B813D1EE6A}">
      <dsp:nvSpPr>
        <dsp:cNvPr id="0" name=""/>
        <dsp:cNvSpPr/>
      </dsp:nvSpPr>
      <dsp:spPr>
        <a:xfrm>
          <a:off x="0" y="3816524"/>
          <a:ext cx="6858000" cy="15263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C56B5-3FC4-4A53-B09B-0EB26FCD3A42}">
      <dsp:nvSpPr>
        <dsp:cNvPr id="0" name=""/>
        <dsp:cNvSpPr/>
      </dsp:nvSpPr>
      <dsp:spPr>
        <a:xfrm>
          <a:off x="461720" y="4159953"/>
          <a:ext cx="839491" cy="8394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33B26-1024-4BF1-B026-9AE67A27B7A0}">
      <dsp:nvSpPr>
        <dsp:cNvPr id="0" name=""/>
        <dsp:cNvSpPr/>
      </dsp:nvSpPr>
      <dsp:spPr>
        <a:xfrm>
          <a:off x="1762933" y="3816524"/>
          <a:ext cx="5095066" cy="1526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539" tIns="161539" rIns="161539" bIns="16153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Написали уравнения, которые будут использованы в коде</a:t>
          </a:r>
          <a:endParaRPr lang="en-US" sz="2500" kern="1200"/>
        </a:p>
      </dsp:txBody>
      <dsp:txXfrm>
        <a:off x="1762933" y="3816524"/>
        <a:ext cx="5095066" cy="1526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31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9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6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9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3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18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4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2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4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3/6/2021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53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88" r:id="rId6"/>
    <p:sldLayoutId id="2147483693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87B6D-953D-4507-B598-DE7A0AA1C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009650"/>
            <a:ext cx="4400549" cy="1857375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l"/>
            <a:r>
              <a:rPr lang="en-US" sz="4100" kern="1200" cap="all" spc="1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Неравновесная агрегация, фракталы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3" descr="Тропический зеленый листья Векторный фон">
            <a:extLst>
              <a:ext uri="{FF2B5EF4-FFF2-40B4-BE49-F238E27FC236}">
                <a16:creationId xmlns:a16="http://schemas.microsoft.com/office/drawing/2014/main" id="{E561185E-EA6A-4121-A755-6D758692A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8" r="3050"/>
          <a:stretch/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3D9765-787B-47FE-BD9C-AD7014630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109956"/>
            <a:ext cx="4400549" cy="31670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Виноградова Варвара НФИбд-01-18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Жижченко Глеб НФИбд-01-18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Жижченко (Ветошкина) Валерия НФИбд-03-18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Греков Максим НФИбд-01-18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Кондратьева Анастасия НФИбд-01-18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Иванова Ольга НФИбд-01-18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FE68F9A-53D3-4D8F-B851-AD91A764E0F9}"/>
              </a:ext>
            </a:extLst>
          </p:cNvPr>
          <p:cNvSpPr/>
          <p:nvPr/>
        </p:nvSpPr>
        <p:spPr>
          <a:xfrm>
            <a:off x="0" y="5829299"/>
            <a:ext cx="4742511" cy="533399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300" dirty="0">
                <a:solidFill>
                  <a:srgbClr val="FFFFFF"/>
                </a:solidFill>
              </a:rPr>
              <a:t>Тема №1, Этап 2 </a:t>
            </a:r>
          </a:p>
        </p:txBody>
      </p:sp>
    </p:spTree>
    <p:extLst>
      <p:ext uri="{BB962C8B-B14F-4D97-AF65-F5344CB8AC3E}">
        <p14:creationId xmlns:p14="http://schemas.microsoft.com/office/powerpoint/2010/main" val="382120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E5DF58-5CFD-4D62-AC3A-9EA04E1AF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2112E0-0558-4FD3-AB55-E9B8DAFE55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67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8064D39A-E0A4-461B-A8D2-9C3AE870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6EF7E-5AA5-46B1-9CAA-C4EF16F2C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6" y="1771650"/>
            <a:ext cx="4629150" cy="1343026"/>
          </a:xfrm>
        </p:spPr>
        <p:txBody>
          <a:bodyPr anchor="b">
            <a:normAutofit/>
          </a:bodyPr>
          <a:lstStyle/>
          <a:p>
            <a:r>
              <a:rPr lang="ru-RU" dirty="0"/>
              <a:t>Дерево </a:t>
            </a:r>
            <a:r>
              <a:rPr lang="ru-RU" dirty="0" err="1"/>
              <a:t>пифагора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7D6BD-471A-461F-939A-9B565EBA9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376" y="3295649"/>
            <a:ext cx="4629150" cy="1924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100"/>
              <a:t>Для построения Дерева Пифагора используется генератор в виде прямоугольного треугольника с квадратом на гипотенузе. Применяя этот генератор к самому</a:t>
            </a:r>
            <a:br>
              <a:rPr lang="ru-RU" sz="1100"/>
            </a:br>
            <a:r>
              <a:rPr lang="ru-RU" sz="1100"/>
              <a:t>себе, получим первую итерацию с двумя новыми треугольниками.</a:t>
            </a:r>
            <a:br>
              <a:rPr lang="ru-RU" sz="1100"/>
            </a:br>
            <a:br>
              <a:rPr lang="ru-RU" sz="1100"/>
            </a:br>
            <a:r>
              <a:rPr lang="ru-RU" sz="1100"/>
              <a:t>Продолжая процесс, получим новые поколения, для которых количество треугольников увеличивается каждый в два раза. В пределе этого процесса «вырастет» Дерево Пифагора</a:t>
            </a:r>
            <a:br>
              <a:rPr lang="ru-RU" sz="1100"/>
            </a:br>
            <a:br>
              <a:rPr lang="ru-RU" sz="1100"/>
            </a:br>
            <a:r>
              <a:rPr lang="ru-RU" sz="1100"/>
              <a:t>Одним из свойств дерева Пифагора является то, что, если площадь первого квадрата равна единице, то на каждом уровне сумма площадей квадратов тоже будет равна единице.</a:t>
            </a:r>
          </a:p>
          <a:p>
            <a:endParaRPr lang="ru-RU" sz="1100"/>
          </a:p>
        </p:txBody>
      </p:sp>
    </p:spTree>
    <p:extLst>
      <p:ext uri="{BB962C8B-B14F-4D97-AF65-F5344CB8AC3E}">
        <p14:creationId xmlns:p14="http://schemas.microsoft.com/office/powerpoint/2010/main" val="3280767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3DABC-7B1A-4212-A1A5-EEB934F9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80153"/>
            <a:ext cx="10668000" cy="106649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ctr"/>
            <a:r>
              <a:rPr lang="en-US" sz="5400" dirty="0" err="1"/>
              <a:t>Разновидности</a:t>
            </a:r>
            <a:r>
              <a:rPr lang="en-US" sz="5400" dirty="0"/>
              <a:t> </a:t>
            </a:r>
            <a:r>
              <a:rPr lang="en-US" sz="5400" dirty="0" err="1"/>
              <a:t>дерев</a:t>
            </a:r>
            <a:r>
              <a:rPr lang="ru-RU" sz="5400" dirty="0"/>
              <a:t>а</a:t>
            </a:r>
            <a:r>
              <a:rPr lang="en-US" sz="5400" dirty="0"/>
              <a:t>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240B197-A820-4D97-A33C-09F92D34E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65" y="950111"/>
            <a:ext cx="3066651" cy="19933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8346DA-9234-41EB-BD0B-F0D8BA43D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53" y="951131"/>
            <a:ext cx="3065082" cy="19923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A8C709-C3D5-4C63-8F27-6B7CE0CA2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435" y="891995"/>
            <a:ext cx="3081130" cy="21105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500811-0AC9-4639-B67E-5B590396C8C5}"/>
              </a:ext>
            </a:extLst>
          </p:cNvPr>
          <p:cNvSpPr txBox="1"/>
          <p:nvPr/>
        </p:nvSpPr>
        <p:spPr>
          <a:xfrm flipH="1">
            <a:off x="1190127" y="2959293"/>
            <a:ext cx="261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Рисунок 1. Классическое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397F4-5DA3-49E4-9A15-8BEE6958D037}"/>
              </a:ext>
            </a:extLst>
          </p:cNvPr>
          <p:cNvSpPr txBox="1"/>
          <p:nvPr/>
        </p:nvSpPr>
        <p:spPr>
          <a:xfrm>
            <a:off x="4870151" y="3002569"/>
            <a:ext cx="245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2. Обнаженное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CA2EB6-3FFD-4037-B7CD-17EF8F7B287D}"/>
              </a:ext>
            </a:extLst>
          </p:cNvPr>
          <p:cNvSpPr txBox="1"/>
          <p:nvPr/>
        </p:nvSpPr>
        <p:spPr>
          <a:xfrm>
            <a:off x="8272153" y="2959293"/>
            <a:ext cx="3155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3. Обдуваемое ветром</a:t>
            </a:r>
          </a:p>
        </p:txBody>
      </p:sp>
    </p:spTree>
    <p:extLst>
      <p:ext uri="{BB962C8B-B14F-4D97-AF65-F5344CB8AC3E}">
        <p14:creationId xmlns:p14="http://schemas.microsoft.com/office/powerpoint/2010/main" val="334551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32434-B278-4504-8E94-6F8A4B65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lang="ru-RU" b="1" dirty="0"/>
              <a:t>Как чертить фракталы при помощи </a:t>
            </a:r>
            <a:r>
              <a:rPr lang="ru-RU" b="1" dirty="0" err="1"/>
              <a:t>Python</a:t>
            </a:r>
            <a:r>
              <a:rPr lang="ru-RU" b="1" dirty="0"/>
              <a:t>?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81C076-EA4C-4370-8935-E61D1B8E6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369" y="1143000"/>
            <a:ext cx="5876395" cy="4572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ru-RU" sz="1500" dirty="0"/>
            </a:br>
            <a:br>
              <a:rPr lang="ru-RU" sz="1500" dirty="0"/>
            </a:br>
            <a:r>
              <a:rPr lang="ru-RU" sz="1500" dirty="0"/>
              <a:t>Как правило, отрисовка фракталов сложна, так как глубинная природа фракталов определяется концепцией рекурсии. Говоря о графиках и их вычерчивании, мы обычно считаем, что они образованы пикселями или векторами, но количество пикселей или векторов всегда ограничено, а фракталы по определению бесконечно рекурсивны. Таким образом, попытавшись нанести фрактал на координатную сетку, мы в какой-то момент должны будем остановиться, и именно поэтому мы в данном случае говорим об «итерациях». На каждой итерации фрактал становится все сложнее, и в какой-то момент становится невозможно отличить две его итерации, следующие друг за другом (такой момент наступает, когда изменения происходят на уровне, сравнимом с размером пикселя). Здесь логично остановиться, но, как правило, форма фрактала вырисовывается быстрее, и остановиться можно еще раньше.</a:t>
            </a:r>
          </a:p>
        </p:txBody>
      </p:sp>
    </p:spTree>
    <p:extLst>
      <p:ext uri="{BB962C8B-B14F-4D97-AF65-F5344CB8AC3E}">
        <p14:creationId xmlns:p14="http://schemas.microsoft.com/office/powerpoint/2010/main" val="1551468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3F8AA-C49F-4007-971B-7309A4F0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021079"/>
            <a:ext cx="10667999" cy="1086018"/>
          </a:xfrm>
        </p:spPr>
        <p:txBody>
          <a:bodyPr anchor="ctr">
            <a:normAutofit/>
          </a:bodyPr>
          <a:lstStyle/>
          <a:p>
            <a:pPr algn="ctr"/>
            <a:r>
              <a:rPr lang="ru-RU" dirty="0"/>
              <a:t>Входные данные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80CBF0E-1AF1-4F17-84A3-89E3F964A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2367198"/>
            <a:ext cx="12192000" cy="822960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34676D8-D37A-4610-BBFB-A1DC26D52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2367198"/>
            <a:ext cx="12192000" cy="822960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06ED6D-C03F-401A-81DA-12F182B8E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7920" y="3299198"/>
            <a:ext cx="7376160" cy="2796802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Точка нижний левый угол </a:t>
            </a:r>
            <a:endParaRPr lang="en-US" dirty="0"/>
          </a:p>
          <a:p>
            <a:pPr algn="ctr"/>
            <a:r>
              <a:rPr lang="ru-RU" dirty="0"/>
              <a:t>Длина стороны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 err="1"/>
              <a:t>lenght</a:t>
            </a:r>
            <a:r>
              <a:rPr lang="en-US" dirty="0"/>
              <a:t>) </a:t>
            </a:r>
            <a:endParaRPr lang="ru-RU" dirty="0"/>
          </a:p>
          <a:p>
            <a:pPr algn="ctr"/>
            <a:r>
              <a:rPr lang="ru-RU" dirty="0"/>
              <a:t>Угол наклона основания</a:t>
            </a:r>
            <a:r>
              <a:rPr lang="en-US" dirty="0"/>
              <a:t> (</a:t>
            </a:r>
            <a:r>
              <a:rPr lang="en-US" dirty="0" err="1"/>
              <a:t>base_angle</a:t>
            </a:r>
            <a:r>
              <a:rPr lang="en-US" dirty="0"/>
              <a:t>)</a:t>
            </a:r>
            <a:endParaRPr lang="ru-RU" dirty="0"/>
          </a:p>
          <a:p>
            <a:pPr algn="ctr"/>
            <a:r>
              <a:rPr lang="ru-RU" dirty="0"/>
              <a:t>Угол наклона левой ветви</a:t>
            </a:r>
            <a:r>
              <a:rPr lang="en-US" dirty="0"/>
              <a:t> (angle)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04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1A121-A475-407A-8498-E545FFFC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2376" y="450948"/>
            <a:ext cx="4745505" cy="1157043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dirty="0"/>
              <a:t>Задание точек</a:t>
            </a: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A15AA18-4B71-46A7-A76C-9CF96DE14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874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4DE4BFB-2B70-4E62-89FD-1D466CCFE2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64E5BEB-6761-4106-B1D6-D9A6908B4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11FAE02-7EEB-4450-9123-148CC979D3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62FB0BB-9179-4751-A08F-1DBBC8B87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3819F96-CF55-40C3-A784-AC461852C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578D5C7-AD30-4D50-98FC-F0E0C28CDD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99218F-38F4-4493-BD00-D384562CA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01" y="1350833"/>
            <a:ext cx="3293921" cy="3063347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1931F08-2899-41C1-8EEF-6BA9A3EB3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495" y="2058940"/>
            <a:ext cx="5376876" cy="401882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1800" dirty="0"/>
              <a:t>x</a:t>
            </a:r>
            <a:r>
              <a:rPr lang="ru-RU" sz="1800" dirty="0"/>
              <a:t>1</a:t>
            </a:r>
            <a:r>
              <a:rPr lang="es-ES" sz="1800" dirty="0"/>
              <a:t> = x</a:t>
            </a:r>
            <a:r>
              <a:rPr lang="ru-RU" sz="1800" dirty="0"/>
              <a:t>0</a:t>
            </a:r>
            <a:r>
              <a:rPr lang="es-ES" sz="1800" dirty="0"/>
              <a:t> + l</a:t>
            </a:r>
            <a:r>
              <a:rPr lang="en-US" sz="1800" dirty="0" err="1"/>
              <a:t>ength</a:t>
            </a:r>
            <a:r>
              <a:rPr lang="es-ES" sz="1800" dirty="0"/>
              <a:t> * cos(</a:t>
            </a:r>
            <a:r>
              <a:rPr lang="en-US" sz="1800" dirty="0" err="1"/>
              <a:t>base_angle</a:t>
            </a:r>
            <a:r>
              <a:rPr lang="es-ES" sz="1800" dirty="0"/>
              <a:t>)</a:t>
            </a:r>
          </a:p>
          <a:p>
            <a:pPr marL="0" indent="0">
              <a:buNone/>
            </a:pPr>
            <a:r>
              <a:rPr lang="es-ES" sz="1800" dirty="0"/>
              <a:t>y</a:t>
            </a:r>
            <a:r>
              <a:rPr lang="ru-RU" sz="1800" dirty="0"/>
              <a:t>1</a:t>
            </a:r>
            <a:r>
              <a:rPr lang="es-ES" sz="1800" dirty="0"/>
              <a:t> = y</a:t>
            </a:r>
            <a:r>
              <a:rPr lang="ru-RU" sz="1800" dirty="0"/>
              <a:t>0</a:t>
            </a:r>
            <a:r>
              <a:rPr lang="es-ES" sz="1800" dirty="0"/>
              <a:t> - l</a:t>
            </a:r>
            <a:r>
              <a:rPr lang="en-US" sz="1800" dirty="0" err="1"/>
              <a:t>ength</a:t>
            </a:r>
            <a:r>
              <a:rPr lang="es-ES" sz="1800" dirty="0"/>
              <a:t> * sin(</a:t>
            </a:r>
            <a:r>
              <a:rPr lang="en-US" sz="1800" dirty="0" err="1"/>
              <a:t>base_angle</a:t>
            </a:r>
            <a:r>
              <a:rPr lang="es-ES" sz="1800" dirty="0"/>
              <a:t>) </a:t>
            </a:r>
          </a:p>
          <a:p>
            <a:pPr marL="0" indent="0">
              <a:buNone/>
            </a:pPr>
            <a:r>
              <a:rPr lang="es-ES" sz="1800" dirty="0"/>
              <a:t>x</a:t>
            </a:r>
            <a:r>
              <a:rPr lang="ru-RU" sz="1800" dirty="0"/>
              <a:t>2</a:t>
            </a:r>
            <a:r>
              <a:rPr lang="es-ES" sz="1800" dirty="0"/>
              <a:t> = x</a:t>
            </a:r>
            <a:r>
              <a:rPr lang="en-US" sz="1800" dirty="0"/>
              <a:t>0</a:t>
            </a:r>
            <a:r>
              <a:rPr lang="es-ES" sz="1800" dirty="0"/>
              <a:t> + l</a:t>
            </a:r>
            <a:r>
              <a:rPr lang="en-US" sz="1800" dirty="0" err="1"/>
              <a:t>ength</a:t>
            </a:r>
            <a:r>
              <a:rPr lang="es-ES" sz="1800" dirty="0"/>
              <a:t> * cos(</a:t>
            </a:r>
            <a:r>
              <a:rPr lang="en-US" sz="1800" dirty="0" err="1"/>
              <a:t>base_angle</a:t>
            </a:r>
            <a:r>
              <a:rPr lang="es-ES" sz="1800" dirty="0"/>
              <a:t> + 90)</a:t>
            </a:r>
          </a:p>
          <a:p>
            <a:pPr marL="0" indent="0">
              <a:buNone/>
            </a:pPr>
            <a:r>
              <a:rPr lang="es-ES" sz="1800" dirty="0"/>
              <a:t>y</a:t>
            </a:r>
            <a:r>
              <a:rPr lang="ru-RU" sz="1800" dirty="0"/>
              <a:t>2</a:t>
            </a:r>
            <a:r>
              <a:rPr lang="es-ES" sz="1800" dirty="0"/>
              <a:t> = y</a:t>
            </a:r>
            <a:r>
              <a:rPr lang="en-US" sz="1800" dirty="0"/>
              <a:t>0</a:t>
            </a:r>
            <a:r>
              <a:rPr lang="es-ES" sz="1800" dirty="0"/>
              <a:t> - l</a:t>
            </a:r>
            <a:r>
              <a:rPr lang="en-US" sz="1800" dirty="0" err="1"/>
              <a:t>ength</a:t>
            </a:r>
            <a:r>
              <a:rPr lang="es-ES" sz="1800" dirty="0"/>
              <a:t> * sin(</a:t>
            </a:r>
            <a:r>
              <a:rPr lang="en-US" sz="1800" dirty="0" err="1"/>
              <a:t>base_angle</a:t>
            </a:r>
            <a:r>
              <a:rPr lang="es-ES" sz="1800" dirty="0"/>
              <a:t> + 90)</a:t>
            </a:r>
          </a:p>
          <a:p>
            <a:pPr marL="0" indent="0">
              <a:buNone/>
            </a:pPr>
            <a:r>
              <a:rPr lang="es-ES" sz="1800" dirty="0"/>
              <a:t>x</a:t>
            </a:r>
            <a:r>
              <a:rPr lang="ru-RU" sz="1800" dirty="0"/>
              <a:t>3</a:t>
            </a:r>
            <a:r>
              <a:rPr lang="es-ES" sz="1800" dirty="0"/>
              <a:t> = x</a:t>
            </a:r>
            <a:r>
              <a:rPr lang="en-US" sz="1800" dirty="0"/>
              <a:t>1</a:t>
            </a:r>
            <a:r>
              <a:rPr lang="es-ES" sz="1800" dirty="0"/>
              <a:t> + l</a:t>
            </a:r>
            <a:r>
              <a:rPr lang="en-US" sz="1800" dirty="0" err="1"/>
              <a:t>ength</a:t>
            </a:r>
            <a:r>
              <a:rPr lang="es-ES" sz="1800" dirty="0"/>
              <a:t> * cos(</a:t>
            </a:r>
            <a:r>
              <a:rPr lang="en-US" sz="1800" dirty="0" err="1"/>
              <a:t>base_angle</a:t>
            </a:r>
            <a:r>
              <a:rPr lang="es-ES" sz="1800" dirty="0"/>
              <a:t> + 90) </a:t>
            </a:r>
          </a:p>
          <a:p>
            <a:pPr marL="0" indent="0">
              <a:buNone/>
            </a:pPr>
            <a:r>
              <a:rPr lang="es-ES" sz="1800" dirty="0"/>
              <a:t>y</a:t>
            </a:r>
            <a:r>
              <a:rPr lang="ru-RU" sz="1800" dirty="0"/>
              <a:t>3</a:t>
            </a:r>
            <a:r>
              <a:rPr lang="es-ES" sz="1800" dirty="0"/>
              <a:t> = y</a:t>
            </a:r>
            <a:r>
              <a:rPr lang="en-US" sz="1800" dirty="0"/>
              <a:t>1</a:t>
            </a:r>
            <a:r>
              <a:rPr lang="es-ES" sz="1800" dirty="0"/>
              <a:t> - l</a:t>
            </a:r>
            <a:r>
              <a:rPr lang="en-US" sz="1800" dirty="0" err="1"/>
              <a:t>ength</a:t>
            </a:r>
            <a:r>
              <a:rPr lang="es-ES" sz="1800" dirty="0"/>
              <a:t> * sin(</a:t>
            </a:r>
            <a:r>
              <a:rPr lang="en-US" sz="1800" dirty="0" err="1"/>
              <a:t>base_angle</a:t>
            </a:r>
            <a:r>
              <a:rPr lang="es-ES" sz="1800" dirty="0"/>
              <a:t> + 90)</a:t>
            </a:r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r>
              <a:rPr lang="es-ES" sz="1800" dirty="0"/>
              <a:t>x4 = x2 + length * cos(angle) * cos(base_angle + angle)</a:t>
            </a:r>
          </a:p>
          <a:p>
            <a:pPr marL="0" indent="0">
              <a:buNone/>
            </a:pPr>
            <a:r>
              <a:rPr lang="es-ES" sz="1800" dirty="0"/>
              <a:t>y4 = y2 - length * cos(angle) * sin(base_angle + angle)</a:t>
            </a:r>
          </a:p>
        </p:txBody>
      </p:sp>
    </p:spTree>
    <p:extLst>
      <p:ext uri="{BB962C8B-B14F-4D97-AF65-F5344CB8AC3E}">
        <p14:creationId xmlns:p14="http://schemas.microsoft.com/office/powerpoint/2010/main" val="109465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65B25-FD8A-45BA-979B-D72D09F2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523" y="885825"/>
            <a:ext cx="3810001" cy="1901824"/>
          </a:xfrm>
        </p:spPr>
        <p:txBody>
          <a:bodyPr anchor="b">
            <a:normAutofit/>
          </a:bodyPr>
          <a:lstStyle/>
          <a:p>
            <a:r>
              <a:rPr lang="ru-RU" sz="4100"/>
              <a:t>Алгоритм прохождения итераций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6B07EC-D77E-4C5D-A9F8-2AC131018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82" y="762000"/>
            <a:ext cx="5735483" cy="5334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A01B6EF-2CCB-4FD2-8516-D026D007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524" y="3047999"/>
            <a:ext cx="3810000" cy="3048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Каждая следующая итерация начинается с нижнего левого угла, после чего мы находим все точки и рисуем их.</a:t>
            </a: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Затем соединяем точки между собой, получая линии.</a:t>
            </a:r>
          </a:p>
        </p:txBody>
      </p:sp>
    </p:spTree>
    <p:extLst>
      <p:ext uri="{BB962C8B-B14F-4D97-AF65-F5344CB8AC3E}">
        <p14:creationId xmlns:p14="http://schemas.microsoft.com/office/powerpoint/2010/main" val="227341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28">
            <a:extLst>
              <a:ext uri="{FF2B5EF4-FFF2-40B4-BE49-F238E27FC236}">
                <a16:creationId xmlns:a16="http://schemas.microsoft.com/office/drawing/2014/main" id="{D891F8D6-850A-4554-AF0F-FC18D0F9D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628358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DF5793A-9651-4782-B3B6-E06A9E281C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"/>
          <a:stretch/>
        </p:blipFill>
        <p:spPr>
          <a:xfrm>
            <a:off x="8582025" y="2294834"/>
            <a:ext cx="2952750" cy="266992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D17F1B33-10F0-450B-ABD2-D4B406D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3047999"/>
            <a:ext cx="6667500" cy="3048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dirty="0"/>
              <a:t>Нижняя левая точка для левой ветви совпадает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en-US" dirty="0"/>
              <a:t>(x2,y2)</a:t>
            </a:r>
            <a:r>
              <a:rPr lang="ru-RU" dirty="0"/>
              <a:t>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Длина</a:t>
            </a:r>
            <a:r>
              <a:rPr lang="en-US" dirty="0"/>
              <a:t> </a:t>
            </a:r>
            <a:r>
              <a:rPr lang="ru-RU" dirty="0"/>
              <a:t>нового левого дочернего квадрата равна</a:t>
            </a:r>
            <a:r>
              <a:rPr lang="en-US" dirty="0"/>
              <a:t> </a:t>
            </a:r>
            <a:r>
              <a:rPr lang="en-US" i="1" dirty="0" err="1"/>
              <a:t>left_length</a:t>
            </a:r>
            <a:r>
              <a:rPr lang="en-US" i="1" dirty="0"/>
              <a:t> =</a:t>
            </a:r>
            <a:r>
              <a:rPr lang="ru-RU" i="1" dirty="0"/>
              <a:t> </a:t>
            </a:r>
            <a:r>
              <a:rPr lang="en-US" i="1" dirty="0"/>
              <a:t>length * cos(angle)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i="1" dirty="0" err="1"/>
              <a:t>base_angle</a:t>
            </a:r>
            <a:r>
              <a:rPr lang="en-US" i="1" dirty="0"/>
              <a:t> </a:t>
            </a:r>
            <a:r>
              <a:rPr lang="ru-RU" dirty="0"/>
              <a:t>для левого квадрата </a:t>
            </a:r>
            <a:r>
              <a:rPr lang="en-US" i="1" dirty="0" err="1"/>
              <a:t>base_angle</a:t>
            </a:r>
            <a:r>
              <a:rPr lang="en-US" i="1" dirty="0"/>
              <a:t> </a:t>
            </a:r>
            <a:r>
              <a:rPr lang="ru-RU" i="1" dirty="0"/>
              <a:t>родительского + </a:t>
            </a:r>
            <a:r>
              <a:rPr lang="en-US" i="1" dirty="0"/>
              <a:t>angle </a:t>
            </a:r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01843F1-9A50-4D34-96E0-A5E4E744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628358" y="2991645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D343A-ADA0-4843-9B0A-F3E45875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63594"/>
            <a:ext cx="6857999" cy="1624055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dirty="0"/>
              <a:t>Отрисовка левой ветви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89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6DD21-4ECB-414A-A8D4-996A192F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Отрисовка правой ветви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53DDD5-BADC-4538-A7B8-29EA5271C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7999"/>
            <a:ext cx="6683829" cy="304800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Нижняя левая точка для правого ветви совпадает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с </a:t>
            </a:r>
            <a:r>
              <a:rPr lang="en-US" dirty="0">
                <a:solidFill>
                  <a:schemeClr val="bg1"/>
                </a:solidFill>
              </a:rPr>
              <a:t>(x4,y4)</a:t>
            </a:r>
            <a:r>
              <a:rPr lang="ru-RU" dirty="0">
                <a:solidFill>
                  <a:schemeClr val="bg1"/>
                </a:solidFill>
              </a:rPr>
              <a:t>. 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Длина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нового правого дочернего квадрата равна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right_length</a:t>
            </a:r>
            <a:r>
              <a:rPr lang="en-US" i="1" dirty="0">
                <a:solidFill>
                  <a:schemeClr val="bg1"/>
                </a:solidFill>
              </a:rPr>
              <a:t> =</a:t>
            </a:r>
            <a:r>
              <a:rPr lang="ru-RU" i="1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length * sin(angle)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i="1" dirty="0" err="1">
                <a:solidFill>
                  <a:schemeClr val="bg1"/>
                </a:solidFill>
              </a:rPr>
              <a:t>base_angle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для правого квадрата </a:t>
            </a:r>
            <a:r>
              <a:rPr lang="en-US" i="1" dirty="0" err="1">
                <a:solidFill>
                  <a:schemeClr val="bg1"/>
                </a:solidFill>
              </a:rPr>
              <a:t>base_angle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ru-RU" i="1" dirty="0">
                <a:solidFill>
                  <a:schemeClr val="bg1"/>
                </a:solidFill>
              </a:rPr>
              <a:t>родительского </a:t>
            </a:r>
            <a:r>
              <a:rPr lang="en-US" i="1" dirty="0">
                <a:solidFill>
                  <a:schemeClr val="bg1"/>
                </a:solidFill>
              </a:rPr>
              <a:t>- 90`</a:t>
            </a:r>
            <a:r>
              <a:rPr lang="ru-RU" i="1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+ angle 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294692-F61F-47DF-B886-5037E9F90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645" y="1704468"/>
            <a:ext cx="390579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2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0479F5-59EA-43F3-BAFC-2606376E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1CC43-C892-42B6-A86A-DCBCBA858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8717"/>
            <a:ext cx="3810000" cy="3805283"/>
          </a:xfrm>
        </p:spPr>
        <p:txBody>
          <a:bodyPr>
            <a:normAutofit/>
          </a:bodyPr>
          <a:lstStyle/>
          <a:p>
            <a:pPr algn="ctr"/>
            <a:br>
              <a:rPr lang="ru-RU" dirty="0"/>
            </a:br>
            <a:br>
              <a:rPr lang="ru-RU" dirty="0"/>
            </a:br>
            <a:r>
              <a:rPr lang="ru-RU" dirty="0"/>
              <a:t>Выводы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265BD7F3-FDF2-4BCD-9063-3312C801C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071180"/>
              </p:ext>
            </p:extLst>
          </p:nvPr>
        </p:nvGraphicFramePr>
        <p:xfrm>
          <a:off x="4572000" y="761999"/>
          <a:ext cx="6858000" cy="5343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704113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Impac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Microsoft Office PowerPoint</Application>
  <PresentationFormat>Широкоэкранный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Arial Nova Cond</vt:lpstr>
      <vt:lpstr>Impact</vt:lpstr>
      <vt:lpstr>TornVTI</vt:lpstr>
      <vt:lpstr>Неравновесная агрегация, фракталы</vt:lpstr>
      <vt:lpstr>Дерево пифагора</vt:lpstr>
      <vt:lpstr>Разновидности дерева </vt:lpstr>
      <vt:lpstr>Как чертить фракталы при помощи Python?</vt:lpstr>
      <vt:lpstr>Входные данные</vt:lpstr>
      <vt:lpstr>Задание точек</vt:lpstr>
      <vt:lpstr>Алгоритм прохождения итераций</vt:lpstr>
      <vt:lpstr>Отрисовка левой ветви</vt:lpstr>
      <vt:lpstr>Отрисовка правой ветви</vt:lpstr>
      <vt:lpstr> 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Неравновесная агрегация, фракталы</dc:title>
  <dc:creator>Варвара Виноградова</dc:creator>
  <cp:lastModifiedBy>Варвара Виноградова</cp:lastModifiedBy>
  <cp:revision>1</cp:revision>
  <dcterms:created xsi:type="dcterms:W3CDTF">2021-03-06T15:26:08Z</dcterms:created>
  <dcterms:modified xsi:type="dcterms:W3CDTF">2021-03-06T15:26:27Z</dcterms:modified>
</cp:coreProperties>
</file>